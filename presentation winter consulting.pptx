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League Spartan"/>
      <p:regular r:id="rId15"/>
      <p:bold r:id="rId16"/>
    </p:embeddedFont>
    <p:embeddedFont>
      <p:font typeface="Roboto"/>
      <p:bold r:id="rId17"/>
      <p:boldItalic r:id="rId18"/>
    </p:embeddedFont>
    <p:embeddedFont>
      <p:font typeface="Poppins"/>
      <p:bold r:id="rId19"/>
      <p:boldItalic r:id="rId20"/>
    </p:embeddedFont>
    <p:embeddedFont>
      <p:font typeface="Archivo Black"/>
      <p:regular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jxTNdV34NmxZsX2WN3IjFoBbXJ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ArchivoBlack-regular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LeagueSpartan-regular.fntdata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LeagueSpartan-bold.fntdata"/><Relationship Id="rId19" Type="http://schemas.openxmlformats.org/officeDocument/2006/relationships/font" Target="fonts/Poppins-bold.fntdata"/><Relationship Id="rId18" Type="http://schemas.openxmlformats.org/officeDocument/2006/relationships/font" Target="fonts/Roboto-boldItalic.fntdata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.bin"/><Relationship Id="rId6" Type="http://schemas.openxmlformats.org/officeDocument/2006/relationships/oleObject" Target="../embeddings/oleObject1.bin"/><Relationship Id="rId7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1293323" y="3058596"/>
            <a:ext cx="15659653" cy="1293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66" u="none" cap="none" strike="noStrike">
                <a:solidFill>
                  <a:srgbClr val="004AAD"/>
                </a:solidFill>
                <a:latin typeface="Arial"/>
                <a:ea typeface="Arial"/>
                <a:cs typeface="Arial"/>
                <a:sym typeface="Arial"/>
              </a:rPr>
              <a:t>VIEWER RETENTION IN OTT PLATFORMS</a:t>
            </a:r>
            <a:endParaRPr/>
          </a:p>
        </p:txBody>
      </p:sp>
      <p:grpSp>
        <p:nvGrpSpPr>
          <p:cNvPr id="86" name="Google Shape;86;p1"/>
          <p:cNvGrpSpPr/>
          <p:nvPr/>
        </p:nvGrpSpPr>
        <p:grpSpPr>
          <a:xfrm>
            <a:off x="-1543050" y="3876924"/>
            <a:ext cx="3086100" cy="2352325"/>
            <a:chOff x="0" y="-47625"/>
            <a:chExt cx="812800" cy="619542"/>
          </a:xfrm>
        </p:grpSpPr>
        <p:sp>
          <p:nvSpPr>
            <p:cNvPr id="87" name="Google Shape;87;p1"/>
            <p:cNvSpPr/>
            <p:nvPr/>
          </p:nvSpPr>
          <p:spPr>
            <a:xfrm>
              <a:off x="0" y="0"/>
              <a:ext cx="812800" cy="571917"/>
            </a:xfrm>
            <a:custGeom>
              <a:rect b="b" l="l" r="r" t="t"/>
              <a:pathLst>
                <a:path extrusionOk="0"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Google Shape;89;p1"/>
          <p:cNvSpPr txBox="1"/>
          <p:nvPr/>
        </p:nvSpPr>
        <p:spPr>
          <a:xfrm>
            <a:off x="6158080" y="1611608"/>
            <a:ext cx="5641992" cy="913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03" u="none" cap="none" strike="noStrike">
                <a:solidFill>
                  <a:srgbClr val="5170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TOPIC</a:t>
            </a:r>
            <a:endParaRPr/>
          </a:p>
        </p:txBody>
      </p:sp>
      <p:grpSp>
        <p:nvGrpSpPr>
          <p:cNvPr id="90" name="Google Shape;90;p1"/>
          <p:cNvGrpSpPr/>
          <p:nvPr/>
        </p:nvGrpSpPr>
        <p:grpSpPr>
          <a:xfrm>
            <a:off x="16952976" y="3876924"/>
            <a:ext cx="3086100" cy="2352325"/>
            <a:chOff x="0" y="-47625"/>
            <a:chExt cx="812800" cy="619542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812800" cy="571917"/>
            </a:xfrm>
            <a:custGeom>
              <a:rect b="b" l="l" r="r" t="t"/>
              <a:pathLst>
                <a:path extrusionOk="0"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"/>
          <p:cNvSpPr txBox="1"/>
          <p:nvPr/>
        </p:nvSpPr>
        <p:spPr>
          <a:xfrm>
            <a:off x="4044994" y="7061935"/>
            <a:ext cx="10197900" cy="19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303" u="none" cap="none" strike="noStrike">
                <a:solidFill>
                  <a:srgbClr val="8C52FF"/>
                </a:solidFill>
                <a:latin typeface="Roboto"/>
                <a:ea typeface="Roboto"/>
                <a:cs typeface="Roboto"/>
                <a:sym typeface="Roboto"/>
              </a:rPr>
              <a:t>DIAGNOSING ENGAGEMENT PATTERNS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9" name="Google Shape;99;p2"/>
          <p:cNvGrpSpPr/>
          <p:nvPr/>
        </p:nvGrpSpPr>
        <p:grpSpPr>
          <a:xfrm>
            <a:off x="0" y="-180826"/>
            <a:ext cx="9364785" cy="10467826"/>
            <a:chOff x="0" y="-47625"/>
            <a:chExt cx="2466445" cy="2756958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2466445" cy="2709333"/>
            </a:xfrm>
            <a:custGeom>
              <a:rect b="b" l="l" r="r" t="t"/>
              <a:pathLst>
                <a:path extrusionOk="0" h="2709333" w="2466445">
                  <a:moveTo>
                    <a:pt x="0" y="0"/>
                  </a:moveTo>
                  <a:lnTo>
                    <a:pt x="2466445" y="0"/>
                  </a:lnTo>
                  <a:lnTo>
                    <a:pt x="246644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  <a:ln>
              <a:noFill/>
            </a:ln>
          </p:spPr>
        </p:sp>
        <p:sp>
          <p:nvSpPr>
            <p:cNvPr id="101" name="Google Shape;101;p2"/>
            <p:cNvSpPr txBox="1"/>
            <p:nvPr/>
          </p:nvSpPr>
          <p:spPr>
            <a:xfrm>
              <a:off x="0" y="-47625"/>
              <a:ext cx="2466445" cy="2756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16713770" y="-1741733"/>
            <a:ext cx="1574230" cy="3831342"/>
            <a:chOff x="0" y="-47625"/>
            <a:chExt cx="414612" cy="1009078"/>
          </a:xfrm>
        </p:grpSpPr>
        <p:sp>
          <p:nvSpPr>
            <p:cNvPr id="103" name="Google Shape;103;p2"/>
            <p:cNvSpPr/>
            <p:nvPr/>
          </p:nvSpPr>
          <p:spPr>
            <a:xfrm>
              <a:off x="0" y="0"/>
              <a:ext cx="414612" cy="961453"/>
            </a:xfrm>
            <a:custGeom>
              <a:rect b="b" l="l" r="r" t="t"/>
              <a:pathLst>
                <a:path extrusionOk="0" h="961453" w="414612">
                  <a:moveTo>
                    <a:pt x="207306" y="0"/>
                  </a:moveTo>
                  <a:lnTo>
                    <a:pt x="207306" y="0"/>
                  </a:lnTo>
                  <a:cubicBezTo>
                    <a:pt x="262287" y="0"/>
                    <a:pt x="315016" y="21841"/>
                    <a:pt x="353894" y="60719"/>
                  </a:cubicBezTo>
                  <a:cubicBezTo>
                    <a:pt x="392771" y="99596"/>
                    <a:pt x="414612" y="152325"/>
                    <a:pt x="414612" y="207306"/>
                  </a:cubicBezTo>
                  <a:lnTo>
                    <a:pt x="414612" y="754147"/>
                  </a:lnTo>
                  <a:cubicBezTo>
                    <a:pt x="414612" y="809128"/>
                    <a:pt x="392771" y="861857"/>
                    <a:pt x="353894" y="900734"/>
                  </a:cubicBezTo>
                  <a:cubicBezTo>
                    <a:pt x="315016" y="939612"/>
                    <a:pt x="262287" y="961453"/>
                    <a:pt x="207306" y="961453"/>
                  </a:cubicBezTo>
                  <a:lnTo>
                    <a:pt x="207306" y="961453"/>
                  </a:lnTo>
                  <a:cubicBezTo>
                    <a:pt x="152325" y="961453"/>
                    <a:pt x="99596" y="939612"/>
                    <a:pt x="60719" y="900734"/>
                  </a:cubicBezTo>
                  <a:cubicBezTo>
                    <a:pt x="21841" y="861857"/>
                    <a:pt x="0" y="809128"/>
                    <a:pt x="0" y="754147"/>
                  </a:cubicBezTo>
                  <a:lnTo>
                    <a:pt x="0" y="207306"/>
                  </a:lnTo>
                  <a:cubicBezTo>
                    <a:pt x="0" y="152325"/>
                    <a:pt x="21841" y="99596"/>
                    <a:pt x="60719" y="60719"/>
                  </a:cubicBezTo>
                  <a:cubicBezTo>
                    <a:pt x="99596" y="21841"/>
                    <a:pt x="152325" y="0"/>
                    <a:pt x="207306" y="0"/>
                  </a:cubicBezTo>
                  <a:close/>
                </a:path>
              </a:pathLst>
            </a:custGeom>
            <a:solidFill>
              <a:srgbClr val="517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0" y="-47625"/>
              <a:ext cx="414612" cy="10090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2"/>
          <p:cNvGrpSpPr/>
          <p:nvPr/>
        </p:nvGrpSpPr>
        <p:grpSpPr>
          <a:xfrm>
            <a:off x="16713770" y="8056337"/>
            <a:ext cx="1574230" cy="3831342"/>
            <a:chOff x="0" y="-47625"/>
            <a:chExt cx="414612" cy="1009078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414612" cy="961453"/>
            </a:xfrm>
            <a:custGeom>
              <a:rect b="b" l="l" r="r" t="t"/>
              <a:pathLst>
                <a:path extrusionOk="0" h="961453" w="414612">
                  <a:moveTo>
                    <a:pt x="207306" y="0"/>
                  </a:moveTo>
                  <a:lnTo>
                    <a:pt x="207306" y="0"/>
                  </a:lnTo>
                  <a:cubicBezTo>
                    <a:pt x="262287" y="0"/>
                    <a:pt x="315016" y="21841"/>
                    <a:pt x="353894" y="60719"/>
                  </a:cubicBezTo>
                  <a:cubicBezTo>
                    <a:pt x="392771" y="99596"/>
                    <a:pt x="414612" y="152325"/>
                    <a:pt x="414612" y="207306"/>
                  </a:cubicBezTo>
                  <a:lnTo>
                    <a:pt x="414612" y="754147"/>
                  </a:lnTo>
                  <a:cubicBezTo>
                    <a:pt x="414612" y="809128"/>
                    <a:pt x="392771" y="861857"/>
                    <a:pt x="353894" y="900734"/>
                  </a:cubicBezTo>
                  <a:cubicBezTo>
                    <a:pt x="315016" y="939612"/>
                    <a:pt x="262287" y="961453"/>
                    <a:pt x="207306" y="961453"/>
                  </a:cubicBezTo>
                  <a:lnTo>
                    <a:pt x="207306" y="961453"/>
                  </a:lnTo>
                  <a:cubicBezTo>
                    <a:pt x="152325" y="961453"/>
                    <a:pt x="99596" y="939612"/>
                    <a:pt x="60719" y="900734"/>
                  </a:cubicBezTo>
                  <a:cubicBezTo>
                    <a:pt x="21841" y="861857"/>
                    <a:pt x="0" y="809128"/>
                    <a:pt x="0" y="754147"/>
                  </a:cubicBezTo>
                  <a:lnTo>
                    <a:pt x="0" y="207306"/>
                  </a:lnTo>
                  <a:cubicBezTo>
                    <a:pt x="0" y="152325"/>
                    <a:pt x="21841" y="99596"/>
                    <a:pt x="60719" y="60719"/>
                  </a:cubicBezTo>
                  <a:cubicBezTo>
                    <a:pt x="99596" y="21841"/>
                    <a:pt x="152325" y="0"/>
                    <a:pt x="207306" y="0"/>
                  </a:cubicBezTo>
                  <a:close/>
                </a:path>
              </a:pathLst>
            </a:custGeom>
            <a:solidFill>
              <a:srgbClr val="517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0" y="-47625"/>
              <a:ext cx="414612" cy="10090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2"/>
          <p:cNvSpPr/>
          <p:nvPr/>
        </p:nvSpPr>
        <p:spPr>
          <a:xfrm>
            <a:off x="9364785" y="3023140"/>
            <a:ext cx="9518635" cy="4240720"/>
          </a:xfrm>
          <a:custGeom>
            <a:rect b="b" l="l" r="r" t="t"/>
            <a:pathLst>
              <a:path extrusionOk="0" h="4240720" w="9518635">
                <a:moveTo>
                  <a:pt x="0" y="0"/>
                </a:moveTo>
                <a:lnTo>
                  <a:pt x="9518635" y="0"/>
                </a:lnTo>
                <a:lnTo>
                  <a:pt x="9518635" y="4240720"/>
                </a:lnTo>
                <a:lnTo>
                  <a:pt x="0" y="4240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299" l="-1098" r="0" t="-5337"/>
            </a:stretch>
          </a:blipFill>
          <a:ln>
            <a:noFill/>
          </a:ln>
        </p:spPr>
      </p:sp>
      <p:sp>
        <p:nvSpPr>
          <p:cNvPr id="109" name="Google Shape;109;p2"/>
          <p:cNvSpPr txBox="1"/>
          <p:nvPr/>
        </p:nvSpPr>
        <p:spPr>
          <a:xfrm>
            <a:off x="664805" y="374063"/>
            <a:ext cx="7274219" cy="79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08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 STATEMENT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664805" y="1873722"/>
            <a:ext cx="5634574" cy="3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Business Challenge: 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595628" y="7634601"/>
            <a:ext cx="7412574" cy="1489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9499" lvl="1" marL="458997" marR="0" rtl="0" algn="l">
              <a:lnSpc>
                <a:spcPct val="1400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25"/>
              <a:buFont typeface="Poppins"/>
              <a:buAutoNum type="arabicPeriod"/>
            </a:pPr>
            <a:r>
              <a:rPr b="0" i="0" lang="en-US" sz="21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Identify and diagnose the root cause of early viewer drop-off rate.</a:t>
            </a:r>
            <a:endParaRPr/>
          </a:p>
          <a:p>
            <a:pPr indent="-229499" lvl="1" marL="458997" marR="0" rtl="0" algn="l">
              <a:lnSpc>
                <a:spcPct val="1400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25"/>
              <a:buFont typeface="Poppins"/>
              <a:buAutoNum type="arabicPeriod"/>
            </a:pPr>
            <a:r>
              <a:rPr b="0" i="0" lang="en-US" sz="21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Recommend the actions the platform should take in order to improve the user engagement.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664805" y="2303635"/>
            <a:ext cx="7343396" cy="1117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 OTT platform Despite having High viewership at    launch, a significant portion of viewers disengage during Season 1.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664805" y="7206710"/>
            <a:ext cx="5634574" cy="3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AIM: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664805" y="3889424"/>
            <a:ext cx="5634574" cy="3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Business Impact: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664805" y="4315412"/>
            <a:ext cx="7343396" cy="7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 churn limits User Lifetime Value (LTV) and creates uncertainty for content renewal decisions.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664805" y="5442512"/>
            <a:ext cx="5634574" cy="3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Internal Hypothesis: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630217" y="5759987"/>
            <a:ext cx="7343396" cy="1117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Teams suspect content design (pacing, load, structure) is to the cause of the problem but there is a lack empirical evidence.</a:t>
            </a:r>
            <a:endParaRPr/>
          </a:p>
        </p:txBody>
      </p:sp>
      <p:grpSp>
        <p:nvGrpSpPr>
          <p:cNvPr id="118" name="Google Shape;118;p2"/>
          <p:cNvGrpSpPr/>
          <p:nvPr/>
        </p:nvGrpSpPr>
        <p:grpSpPr>
          <a:xfrm>
            <a:off x="14124103" y="-1741733"/>
            <a:ext cx="1574230" cy="3831342"/>
            <a:chOff x="0" y="-47625"/>
            <a:chExt cx="414612" cy="1009078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414612" cy="961453"/>
            </a:xfrm>
            <a:custGeom>
              <a:rect b="b" l="l" r="r" t="t"/>
              <a:pathLst>
                <a:path extrusionOk="0" h="961453" w="414612">
                  <a:moveTo>
                    <a:pt x="207306" y="0"/>
                  </a:moveTo>
                  <a:lnTo>
                    <a:pt x="207306" y="0"/>
                  </a:lnTo>
                  <a:cubicBezTo>
                    <a:pt x="262287" y="0"/>
                    <a:pt x="315016" y="21841"/>
                    <a:pt x="353894" y="60719"/>
                  </a:cubicBezTo>
                  <a:cubicBezTo>
                    <a:pt x="392771" y="99596"/>
                    <a:pt x="414612" y="152325"/>
                    <a:pt x="414612" y="207306"/>
                  </a:cubicBezTo>
                  <a:lnTo>
                    <a:pt x="414612" y="754147"/>
                  </a:lnTo>
                  <a:cubicBezTo>
                    <a:pt x="414612" y="809128"/>
                    <a:pt x="392771" y="861857"/>
                    <a:pt x="353894" y="900734"/>
                  </a:cubicBezTo>
                  <a:cubicBezTo>
                    <a:pt x="315016" y="939612"/>
                    <a:pt x="262287" y="961453"/>
                    <a:pt x="207306" y="961453"/>
                  </a:cubicBezTo>
                  <a:lnTo>
                    <a:pt x="207306" y="961453"/>
                  </a:lnTo>
                  <a:cubicBezTo>
                    <a:pt x="152325" y="961453"/>
                    <a:pt x="99596" y="939612"/>
                    <a:pt x="60719" y="900734"/>
                  </a:cubicBezTo>
                  <a:cubicBezTo>
                    <a:pt x="21841" y="861857"/>
                    <a:pt x="0" y="809128"/>
                    <a:pt x="0" y="754147"/>
                  </a:cubicBezTo>
                  <a:lnTo>
                    <a:pt x="0" y="207306"/>
                  </a:lnTo>
                  <a:cubicBezTo>
                    <a:pt x="0" y="152325"/>
                    <a:pt x="21841" y="99596"/>
                    <a:pt x="60719" y="60719"/>
                  </a:cubicBezTo>
                  <a:cubicBezTo>
                    <a:pt x="99596" y="21841"/>
                    <a:pt x="152325" y="0"/>
                    <a:pt x="207306" y="0"/>
                  </a:cubicBezTo>
                  <a:close/>
                </a:path>
              </a:pathLst>
            </a:custGeom>
            <a:solidFill>
              <a:srgbClr val="5170FF">
                <a:alpha val="8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0" y="-47625"/>
              <a:ext cx="414612" cy="10090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11289940" y="-1779752"/>
            <a:ext cx="1574230" cy="3831342"/>
            <a:chOff x="0" y="-47625"/>
            <a:chExt cx="414612" cy="1009078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414612" cy="961453"/>
            </a:xfrm>
            <a:custGeom>
              <a:rect b="b" l="l" r="r" t="t"/>
              <a:pathLst>
                <a:path extrusionOk="0" h="961453" w="414612">
                  <a:moveTo>
                    <a:pt x="207306" y="0"/>
                  </a:moveTo>
                  <a:lnTo>
                    <a:pt x="207306" y="0"/>
                  </a:lnTo>
                  <a:cubicBezTo>
                    <a:pt x="262287" y="0"/>
                    <a:pt x="315016" y="21841"/>
                    <a:pt x="353894" y="60719"/>
                  </a:cubicBezTo>
                  <a:cubicBezTo>
                    <a:pt x="392771" y="99596"/>
                    <a:pt x="414612" y="152325"/>
                    <a:pt x="414612" y="207306"/>
                  </a:cubicBezTo>
                  <a:lnTo>
                    <a:pt x="414612" y="754147"/>
                  </a:lnTo>
                  <a:cubicBezTo>
                    <a:pt x="414612" y="809128"/>
                    <a:pt x="392771" y="861857"/>
                    <a:pt x="353894" y="900734"/>
                  </a:cubicBezTo>
                  <a:cubicBezTo>
                    <a:pt x="315016" y="939612"/>
                    <a:pt x="262287" y="961453"/>
                    <a:pt x="207306" y="961453"/>
                  </a:cubicBezTo>
                  <a:lnTo>
                    <a:pt x="207306" y="961453"/>
                  </a:lnTo>
                  <a:cubicBezTo>
                    <a:pt x="152325" y="961453"/>
                    <a:pt x="99596" y="939612"/>
                    <a:pt x="60719" y="900734"/>
                  </a:cubicBezTo>
                  <a:cubicBezTo>
                    <a:pt x="21841" y="861857"/>
                    <a:pt x="0" y="809128"/>
                    <a:pt x="0" y="754147"/>
                  </a:cubicBezTo>
                  <a:lnTo>
                    <a:pt x="0" y="207306"/>
                  </a:lnTo>
                  <a:cubicBezTo>
                    <a:pt x="0" y="152325"/>
                    <a:pt x="21841" y="99596"/>
                    <a:pt x="60719" y="60719"/>
                  </a:cubicBezTo>
                  <a:cubicBezTo>
                    <a:pt x="99596" y="21841"/>
                    <a:pt x="152325" y="0"/>
                    <a:pt x="207306" y="0"/>
                  </a:cubicBezTo>
                  <a:close/>
                </a:path>
              </a:pathLst>
            </a:custGeom>
            <a:solidFill>
              <a:srgbClr val="5170FF">
                <a:alpha val="5176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47625"/>
              <a:ext cx="414612" cy="10090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14124103" y="8056337"/>
            <a:ext cx="1574230" cy="3831342"/>
            <a:chOff x="0" y="-47625"/>
            <a:chExt cx="414612" cy="1009078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414612" cy="961453"/>
            </a:xfrm>
            <a:custGeom>
              <a:rect b="b" l="l" r="r" t="t"/>
              <a:pathLst>
                <a:path extrusionOk="0" h="961453" w="414612">
                  <a:moveTo>
                    <a:pt x="207306" y="0"/>
                  </a:moveTo>
                  <a:lnTo>
                    <a:pt x="207306" y="0"/>
                  </a:lnTo>
                  <a:cubicBezTo>
                    <a:pt x="262287" y="0"/>
                    <a:pt x="315016" y="21841"/>
                    <a:pt x="353894" y="60719"/>
                  </a:cubicBezTo>
                  <a:cubicBezTo>
                    <a:pt x="392771" y="99596"/>
                    <a:pt x="414612" y="152325"/>
                    <a:pt x="414612" y="207306"/>
                  </a:cubicBezTo>
                  <a:lnTo>
                    <a:pt x="414612" y="754147"/>
                  </a:lnTo>
                  <a:cubicBezTo>
                    <a:pt x="414612" y="809128"/>
                    <a:pt x="392771" y="861857"/>
                    <a:pt x="353894" y="900734"/>
                  </a:cubicBezTo>
                  <a:cubicBezTo>
                    <a:pt x="315016" y="939612"/>
                    <a:pt x="262287" y="961453"/>
                    <a:pt x="207306" y="961453"/>
                  </a:cubicBezTo>
                  <a:lnTo>
                    <a:pt x="207306" y="961453"/>
                  </a:lnTo>
                  <a:cubicBezTo>
                    <a:pt x="152325" y="961453"/>
                    <a:pt x="99596" y="939612"/>
                    <a:pt x="60719" y="900734"/>
                  </a:cubicBezTo>
                  <a:cubicBezTo>
                    <a:pt x="21841" y="861857"/>
                    <a:pt x="0" y="809128"/>
                    <a:pt x="0" y="754147"/>
                  </a:cubicBezTo>
                  <a:lnTo>
                    <a:pt x="0" y="207306"/>
                  </a:lnTo>
                  <a:cubicBezTo>
                    <a:pt x="0" y="152325"/>
                    <a:pt x="21841" y="99596"/>
                    <a:pt x="60719" y="60719"/>
                  </a:cubicBezTo>
                  <a:cubicBezTo>
                    <a:pt x="99596" y="21841"/>
                    <a:pt x="152325" y="0"/>
                    <a:pt x="207306" y="0"/>
                  </a:cubicBezTo>
                  <a:close/>
                </a:path>
              </a:pathLst>
            </a:custGeom>
            <a:solidFill>
              <a:srgbClr val="5170FF">
                <a:alpha val="8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"/>
            <p:cNvSpPr txBox="1"/>
            <p:nvPr/>
          </p:nvSpPr>
          <p:spPr>
            <a:xfrm>
              <a:off x="0" y="-47625"/>
              <a:ext cx="414612" cy="10090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11289940" y="8056337"/>
            <a:ext cx="1574230" cy="3831342"/>
            <a:chOff x="0" y="-47625"/>
            <a:chExt cx="414612" cy="1009078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414612" cy="961453"/>
            </a:xfrm>
            <a:custGeom>
              <a:rect b="b" l="l" r="r" t="t"/>
              <a:pathLst>
                <a:path extrusionOk="0" h="961453" w="414612">
                  <a:moveTo>
                    <a:pt x="207306" y="0"/>
                  </a:moveTo>
                  <a:lnTo>
                    <a:pt x="207306" y="0"/>
                  </a:lnTo>
                  <a:cubicBezTo>
                    <a:pt x="262287" y="0"/>
                    <a:pt x="315016" y="21841"/>
                    <a:pt x="353894" y="60719"/>
                  </a:cubicBezTo>
                  <a:cubicBezTo>
                    <a:pt x="392771" y="99596"/>
                    <a:pt x="414612" y="152325"/>
                    <a:pt x="414612" y="207306"/>
                  </a:cubicBezTo>
                  <a:lnTo>
                    <a:pt x="414612" y="754147"/>
                  </a:lnTo>
                  <a:cubicBezTo>
                    <a:pt x="414612" y="809128"/>
                    <a:pt x="392771" y="861857"/>
                    <a:pt x="353894" y="900734"/>
                  </a:cubicBezTo>
                  <a:cubicBezTo>
                    <a:pt x="315016" y="939612"/>
                    <a:pt x="262287" y="961453"/>
                    <a:pt x="207306" y="961453"/>
                  </a:cubicBezTo>
                  <a:lnTo>
                    <a:pt x="207306" y="961453"/>
                  </a:lnTo>
                  <a:cubicBezTo>
                    <a:pt x="152325" y="961453"/>
                    <a:pt x="99596" y="939612"/>
                    <a:pt x="60719" y="900734"/>
                  </a:cubicBezTo>
                  <a:cubicBezTo>
                    <a:pt x="21841" y="861857"/>
                    <a:pt x="0" y="809128"/>
                    <a:pt x="0" y="754147"/>
                  </a:cubicBezTo>
                  <a:lnTo>
                    <a:pt x="0" y="207306"/>
                  </a:lnTo>
                  <a:cubicBezTo>
                    <a:pt x="0" y="152325"/>
                    <a:pt x="21841" y="99596"/>
                    <a:pt x="60719" y="60719"/>
                  </a:cubicBezTo>
                  <a:cubicBezTo>
                    <a:pt x="99596" y="21841"/>
                    <a:pt x="152325" y="0"/>
                    <a:pt x="207306" y="0"/>
                  </a:cubicBezTo>
                  <a:close/>
                </a:path>
              </a:pathLst>
            </a:custGeom>
            <a:solidFill>
              <a:srgbClr val="5170FF">
                <a:alpha val="5176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"/>
            <p:cNvSpPr txBox="1"/>
            <p:nvPr/>
          </p:nvSpPr>
          <p:spPr>
            <a:xfrm>
              <a:off x="0" y="-47625"/>
              <a:ext cx="414612" cy="10090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5" name="Google Shape;135;p3"/>
          <p:cNvGrpSpPr/>
          <p:nvPr/>
        </p:nvGrpSpPr>
        <p:grpSpPr>
          <a:xfrm>
            <a:off x="921165" y="377691"/>
            <a:ext cx="7403776" cy="9102859"/>
            <a:chOff x="0" y="-47625"/>
            <a:chExt cx="1949966" cy="2397461"/>
          </a:xfrm>
        </p:grpSpPr>
        <p:sp>
          <p:nvSpPr>
            <p:cNvPr id="136" name="Google Shape;136;p3"/>
            <p:cNvSpPr/>
            <p:nvPr/>
          </p:nvSpPr>
          <p:spPr>
            <a:xfrm>
              <a:off x="0" y="0"/>
              <a:ext cx="1949966" cy="2349836"/>
            </a:xfrm>
            <a:custGeom>
              <a:rect b="b" l="l" r="r" t="t"/>
              <a:pathLst>
                <a:path extrusionOk="0" h="2349836" w="1949966">
                  <a:moveTo>
                    <a:pt x="53329" y="0"/>
                  </a:moveTo>
                  <a:lnTo>
                    <a:pt x="1896637" y="0"/>
                  </a:lnTo>
                  <a:cubicBezTo>
                    <a:pt x="1910780" y="0"/>
                    <a:pt x="1924345" y="5619"/>
                    <a:pt x="1934346" y="15620"/>
                  </a:cubicBezTo>
                  <a:cubicBezTo>
                    <a:pt x="1944347" y="25621"/>
                    <a:pt x="1949966" y="39185"/>
                    <a:pt x="1949966" y="53329"/>
                  </a:cubicBezTo>
                  <a:lnTo>
                    <a:pt x="1949966" y="2296507"/>
                  </a:lnTo>
                  <a:cubicBezTo>
                    <a:pt x="1949966" y="2325960"/>
                    <a:pt x="1926090" y="2349836"/>
                    <a:pt x="1896637" y="2349836"/>
                  </a:cubicBezTo>
                  <a:lnTo>
                    <a:pt x="53329" y="2349836"/>
                  </a:lnTo>
                  <a:cubicBezTo>
                    <a:pt x="23876" y="2349836"/>
                    <a:pt x="0" y="2325960"/>
                    <a:pt x="0" y="2296507"/>
                  </a:cubicBezTo>
                  <a:lnTo>
                    <a:pt x="0" y="53329"/>
                  </a:lnTo>
                  <a:cubicBezTo>
                    <a:pt x="0" y="23876"/>
                    <a:pt x="23876" y="0"/>
                    <a:pt x="53329" y="0"/>
                  </a:cubicBezTo>
                  <a:close/>
                </a:path>
              </a:pathLst>
            </a:custGeom>
            <a:solidFill>
              <a:srgbClr val="004A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 txBox="1"/>
            <p:nvPr/>
          </p:nvSpPr>
          <p:spPr>
            <a:xfrm>
              <a:off x="0" y="-47625"/>
              <a:ext cx="1949966" cy="23974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3"/>
          <p:cNvGrpSpPr/>
          <p:nvPr/>
        </p:nvGrpSpPr>
        <p:grpSpPr>
          <a:xfrm>
            <a:off x="179200" y="1566058"/>
            <a:ext cx="1595559" cy="1595559"/>
            <a:chOff x="0" y="0"/>
            <a:chExt cx="812800" cy="812800"/>
          </a:xfrm>
        </p:grpSpPr>
        <p:sp>
          <p:nvSpPr>
            <p:cNvPr id="139" name="Google Shape;139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" name="Google Shape;141;p3"/>
          <p:cNvGrpSpPr/>
          <p:nvPr/>
        </p:nvGrpSpPr>
        <p:grpSpPr>
          <a:xfrm>
            <a:off x="179200" y="4017334"/>
            <a:ext cx="1699000" cy="1622095"/>
            <a:chOff x="0" y="0"/>
            <a:chExt cx="739160" cy="705702"/>
          </a:xfrm>
        </p:grpSpPr>
        <p:sp>
          <p:nvSpPr>
            <p:cNvPr id="142" name="Google Shape;142;p3"/>
            <p:cNvSpPr/>
            <p:nvPr/>
          </p:nvSpPr>
          <p:spPr>
            <a:xfrm>
              <a:off x="0" y="0"/>
              <a:ext cx="739160" cy="705702"/>
            </a:xfrm>
            <a:custGeom>
              <a:rect b="b" l="l" r="r" t="t"/>
              <a:pathLst>
                <a:path extrusionOk="0" h="705702" w="739160">
                  <a:moveTo>
                    <a:pt x="369580" y="0"/>
                  </a:moveTo>
                  <a:cubicBezTo>
                    <a:pt x="165467" y="0"/>
                    <a:pt x="0" y="157977"/>
                    <a:pt x="0" y="352851"/>
                  </a:cubicBezTo>
                  <a:cubicBezTo>
                    <a:pt x="0" y="547725"/>
                    <a:pt x="165467" y="705702"/>
                    <a:pt x="369580" y="705702"/>
                  </a:cubicBezTo>
                  <a:cubicBezTo>
                    <a:pt x="573693" y="705702"/>
                    <a:pt x="739160" y="547725"/>
                    <a:pt x="739160" y="352851"/>
                  </a:cubicBezTo>
                  <a:cubicBezTo>
                    <a:pt x="739160" y="157977"/>
                    <a:pt x="573693" y="0"/>
                    <a:pt x="369580" y="0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 txBox="1"/>
            <p:nvPr/>
          </p:nvSpPr>
          <p:spPr>
            <a:xfrm>
              <a:off x="69296" y="18535"/>
              <a:ext cx="600567" cy="621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" name="Google Shape;144;p3"/>
          <p:cNvGrpSpPr/>
          <p:nvPr/>
        </p:nvGrpSpPr>
        <p:grpSpPr>
          <a:xfrm>
            <a:off x="239364" y="6782655"/>
            <a:ext cx="1638836" cy="1638836"/>
            <a:chOff x="0" y="0"/>
            <a:chExt cx="812800" cy="812800"/>
          </a:xfrm>
        </p:grpSpPr>
        <p:sp>
          <p:nvSpPr>
            <p:cNvPr id="145" name="Google Shape;145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7" name="Google Shape;147;p3"/>
          <p:cNvSpPr/>
          <p:nvPr/>
        </p:nvSpPr>
        <p:spPr>
          <a:xfrm>
            <a:off x="9256844" y="2628551"/>
            <a:ext cx="8272273" cy="4632473"/>
          </a:xfrm>
          <a:custGeom>
            <a:rect b="b" l="l" r="r" t="t"/>
            <a:pathLst>
              <a:path extrusionOk="0" h="4632473" w="8272273">
                <a:moveTo>
                  <a:pt x="0" y="0"/>
                </a:moveTo>
                <a:lnTo>
                  <a:pt x="8272273" y="0"/>
                </a:lnTo>
                <a:lnTo>
                  <a:pt x="8272273" y="4632473"/>
                </a:lnTo>
                <a:lnTo>
                  <a:pt x="0" y="4632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3"/>
          <p:cNvSpPr txBox="1"/>
          <p:nvPr/>
        </p:nvSpPr>
        <p:spPr>
          <a:xfrm>
            <a:off x="9963662" y="231402"/>
            <a:ext cx="7295638" cy="1945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80" u="none" cap="none" strike="noStrike">
                <a:solidFill>
                  <a:srgbClr val="1800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ANALYSIS OF THE "RETENTION CLIFF"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9372025" y="7834128"/>
            <a:ext cx="8324020" cy="7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5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chart visualizes the "Retention Cliff" pattern .</a:t>
            </a:r>
            <a:endParaRPr/>
          </a:p>
          <a:p>
            <a:pPr indent="0" lvl="0" marL="0" marR="0" rtl="0" algn="l">
              <a:lnSpc>
                <a:spcPct val="1400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5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plots the Average Watch % against the Episode Number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2047466" y="1499383"/>
            <a:ext cx="5886006" cy="1570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Non-Linear Decay:</a:t>
            </a:r>
            <a:r>
              <a:rPr b="0" i="0" lang="en-US" sz="22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While many shows start with a watch percentage around 60%, the data shows extreme volatility as the episode number increases.</a:t>
            </a:r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2080593" y="3734887"/>
            <a:ext cx="5852879" cy="2353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3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Early Cliff:</a:t>
            </a:r>
            <a:r>
              <a:rPr b="0" i="0" lang="en-US" sz="223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There is a clear concentration of data points at the beginning of the season (lower episode numbers) where retention is more stable, but it begins to fluctuate wildly thereafter.</a:t>
            </a:r>
            <a:endParaRPr/>
          </a:p>
        </p:txBody>
      </p:sp>
      <p:sp>
        <p:nvSpPr>
          <p:cNvPr id="152" name="Google Shape;152;p3"/>
          <p:cNvSpPr txBox="1"/>
          <p:nvPr/>
        </p:nvSpPr>
        <p:spPr>
          <a:xfrm>
            <a:off x="101747" y="1619649"/>
            <a:ext cx="1638836" cy="1335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59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239364" y="4200599"/>
            <a:ext cx="1638836" cy="1335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59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239364" y="6968449"/>
            <a:ext cx="1638836" cy="1335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59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  <a:endParaRPr/>
          </a:p>
        </p:txBody>
      </p:sp>
      <p:sp>
        <p:nvSpPr>
          <p:cNvPr id="155" name="Google Shape;155;p3"/>
          <p:cNvSpPr txBox="1"/>
          <p:nvPr/>
        </p:nvSpPr>
        <p:spPr>
          <a:xfrm>
            <a:off x="2218673" y="6715980"/>
            <a:ext cx="5852879" cy="2353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3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Engagement Friction:</a:t>
            </a:r>
            <a:r>
              <a:rPr b="0" i="0" lang="en-US" sz="223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The wide spread of data points at later episodes suggests that once a viewer's "cognitive capacity" is misaligned with the episode structure, watch time becomes highly unpredictable.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1" name="Google Shape;161;p4"/>
          <p:cNvGrpSpPr/>
          <p:nvPr/>
        </p:nvGrpSpPr>
        <p:grpSpPr>
          <a:xfrm>
            <a:off x="0" y="1228129"/>
            <a:ext cx="10187985" cy="228454"/>
            <a:chOff x="0" y="-47625"/>
            <a:chExt cx="2683255" cy="60168"/>
          </a:xfrm>
        </p:grpSpPr>
        <p:sp>
          <p:nvSpPr>
            <p:cNvPr id="162" name="Google Shape;162;p4"/>
            <p:cNvSpPr/>
            <p:nvPr/>
          </p:nvSpPr>
          <p:spPr>
            <a:xfrm>
              <a:off x="0" y="0"/>
              <a:ext cx="2683255" cy="12543"/>
            </a:xfrm>
            <a:custGeom>
              <a:rect b="b" l="l" r="r" t="t"/>
              <a:pathLst>
                <a:path extrusionOk="0" h="12543" w="2683255">
                  <a:moveTo>
                    <a:pt x="0" y="0"/>
                  </a:moveTo>
                  <a:lnTo>
                    <a:pt x="2683255" y="0"/>
                  </a:lnTo>
                  <a:lnTo>
                    <a:pt x="2683255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4AAD"/>
            </a:solidFill>
            <a:ln>
              <a:noFill/>
            </a:ln>
          </p:spPr>
        </p:sp>
        <p:sp>
          <p:nvSpPr>
            <p:cNvPr id="163" name="Google Shape;163;p4"/>
            <p:cNvSpPr txBox="1"/>
            <p:nvPr/>
          </p:nvSpPr>
          <p:spPr>
            <a:xfrm>
              <a:off x="0" y="-47625"/>
              <a:ext cx="2683255" cy="60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4"/>
          <p:cNvSpPr txBox="1"/>
          <p:nvPr/>
        </p:nvSpPr>
        <p:spPr>
          <a:xfrm>
            <a:off x="263116" y="519855"/>
            <a:ext cx="10863555" cy="912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08" u="none" cap="none" strike="noStrik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PACE  VS  COGNITIVE LOAD</a:t>
            </a:r>
            <a:endParaRPr/>
          </a:p>
        </p:txBody>
      </p:sp>
      <p:grpSp>
        <p:nvGrpSpPr>
          <p:cNvPr id="165" name="Google Shape;165;p4"/>
          <p:cNvGrpSpPr/>
          <p:nvPr/>
        </p:nvGrpSpPr>
        <p:grpSpPr>
          <a:xfrm rot="5400000">
            <a:off x="2987192" y="-53099"/>
            <a:ext cx="2242752" cy="7076269"/>
            <a:chOff x="0" y="-47625"/>
            <a:chExt cx="590684" cy="1863709"/>
          </a:xfrm>
        </p:grpSpPr>
        <p:sp>
          <p:nvSpPr>
            <p:cNvPr id="166" name="Google Shape;166;p4"/>
            <p:cNvSpPr/>
            <p:nvPr/>
          </p:nvSpPr>
          <p:spPr>
            <a:xfrm>
              <a:off x="0" y="0"/>
              <a:ext cx="590684" cy="1816084"/>
            </a:xfrm>
            <a:custGeom>
              <a:rect b="b" l="l" r="r" t="t"/>
              <a:pathLst>
                <a:path extrusionOk="0" h="1816084" w="590684">
                  <a:moveTo>
                    <a:pt x="176051" y="0"/>
                  </a:moveTo>
                  <a:lnTo>
                    <a:pt x="414633" y="0"/>
                  </a:lnTo>
                  <a:cubicBezTo>
                    <a:pt x="511863" y="0"/>
                    <a:pt x="590684" y="78821"/>
                    <a:pt x="590684" y="176051"/>
                  </a:cubicBezTo>
                  <a:lnTo>
                    <a:pt x="590684" y="1640033"/>
                  </a:lnTo>
                  <a:cubicBezTo>
                    <a:pt x="590684" y="1737263"/>
                    <a:pt x="511863" y="1816084"/>
                    <a:pt x="414633" y="1816084"/>
                  </a:cubicBezTo>
                  <a:lnTo>
                    <a:pt x="176051" y="1816084"/>
                  </a:lnTo>
                  <a:cubicBezTo>
                    <a:pt x="129359" y="1816084"/>
                    <a:pt x="84580" y="1797536"/>
                    <a:pt x="51564" y="1764520"/>
                  </a:cubicBezTo>
                  <a:cubicBezTo>
                    <a:pt x="18548" y="1731504"/>
                    <a:pt x="0" y="1686725"/>
                    <a:pt x="0" y="1640033"/>
                  </a:cubicBezTo>
                  <a:lnTo>
                    <a:pt x="0" y="176051"/>
                  </a:lnTo>
                  <a:cubicBezTo>
                    <a:pt x="0" y="129359"/>
                    <a:pt x="18548" y="84580"/>
                    <a:pt x="51564" y="51564"/>
                  </a:cubicBezTo>
                  <a:cubicBezTo>
                    <a:pt x="84580" y="18548"/>
                    <a:pt x="129359" y="0"/>
                    <a:pt x="1760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4"/>
            <p:cNvSpPr txBox="1"/>
            <p:nvPr/>
          </p:nvSpPr>
          <p:spPr>
            <a:xfrm>
              <a:off x="0" y="-47625"/>
              <a:ext cx="590684" cy="1863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4"/>
          <p:cNvSpPr txBox="1"/>
          <p:nvPr/>
        </p:nvSpPr>
        <p:spPr>
          <a:xfrm>
            <a:off x="941514" y="2897049"/>
            <a:ext cx="6376887" cy="1266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6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Pacing refers to the narrative velocity—how quickly the story moves and how often significant plot points occur.</a:t>
            </a:r>
            <a:endParaRPr/>
          </a:p>
        </p:txBody>
      </p:sp>
      <p:grpSp>
        <p:nvGrpSpPr>
          <p:cNvPr id="169" name="Google Shape;169;p4"/>
          <p:cNvGrpSpPr/>
          <p:nvPr/>
        </p:nvGrpSpPr>
        <p:grpSpPr>
          <a:xfrm rot="5400000">
            <a:off x="12095313" y="-194153"/>
            <a:ext cx="2242752" cy="7358379"/>
            <a:chOff x="0" y="-47625"/>
            <a:chExt cx="590684" cy="1938009"/>
          </a:xfrm>
        </p:grpSpPr>
        <p:sp>
          <p:nvSpPr>
            <p:cNvPr id="170" name="Google Shape;170;p4"/>
            <p:cNvSpPr/>
            <p:nvPr/>
          </p:nvSpPr>
          <p:spPr>
            <a:xfrm>
              <a:off x="0" y="0"/>
              <a:ext cx="590684" cy="1890384"/>
            </a:xfrm>
            <a:custGeom>
              <a:rect b="b" l="l" r="r" t="t"/>
              <a:pathLst>
                <a:path extrusionOk="0" h="1890384" w="590684">
                  <a:moveTo>
                    <a:pt x="176051" y="0"/>
                  </a:moveTo>
                  <a:lnTo>
                    <a:pt x="414633" y="0"/>
                  </a:lnTo>
                  <a:cubicBezTo>
                    <a:pt x="511863" y="0"/>
                    <a:pt x="590684" y="78821"/>
                    <a:pt x="590684" y="176051"/>
                  </a:cubicBezTo>
                  <a:lnTo>
                    <a:pt x="590684" y="1714334"/>
                  </a:lnTo>
                  <a:cubicBezTo>
                    <a:pt x="590684" y="1761025"/>
                    <a:pt x="572135" y="1805805"/>
                    <a:pt x="539120" y="1838820"/>
                  </a:cubicBezTo>
                  <a:cubicBezTo>
                    <a:pt x="506104" y="1871836"/>
                    <a:pt x="461324" y="1890384"/>
                    <a:pt x="414633" y="1890384"/>
                  </a:cubicBezTo>
                  <a:lnTo>
                    <a:pt x="176051" y="1890384"/>
                  </a:lnTo>
                  <a:cubicBezTo>
                    <a:pt x="129359" y="1890384"/>
                    <a:pt x="84580" y="1871836"/>
                    <a:pt x="51564" y="1838820"/>
                  </a:cubicBezTo>
                  <a:cubicBezTo>
                    <a:pt x="18548" y="1805805"/>
                    <a:pt x="0" y="1761025"/>
                    <a:pt x="0" y="1714334"/>
                  </a:cubicBezTo>
                  <a:lnTo>
                    <a:pt x="0" y="176051"/>
                  </a:lnTo>
                  <a:cubicBezTo>
                    <a:pt x="0" y="129359"/>
                    <a:pt x="18548" y="84580"/>
                    <a:pt x="51564" y="51564"/>
                  </a:cubicBezTo>
                  <a:cubicBezTo>
                    <a:pt x="84580" y="18548"/>
                    <a:pt x="129359" y="0"/>
                    <a:pt x="1760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4"/>
            <p:cNvSpPr txBox="1"/>
            <p:nvPr/>
          </p:nvSpPr>
          <p:spPr>
            <a:xfrm>
              <a:off x="0" y="-47625"/>
              <a:ext cx="590684" cy="19380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4"/>
          <p:cNvSpPr txBox="1"/>
          <p:nvPr/>
        </p:nvSpPr>
        <p:spPr>
          <a:xfrm>
            <a:off x="9937832" y="3009893"/>
            <a:ext cx="6376887" cy="1266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6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Cognitive Load refers to the mental effort required by the viewer to keep track of what is happening.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941514" y="2453973"/>
            <a:ext cx="6376887" cy="509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6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PACE</a:t>
            </a:r>
            <a:endParaRPr/>
          </a:p>
        </p:txBody>
      </p:sp>
      <p:sp>
        <p:nvSpPr>
          <p:cNvPr id="174" name="Google Shape;174;p4"/>
          <p:cNvSpPr txBox="1"/>
          <p:nvPr/>
        </p:nvSpPr>
        <p:spPr>
          <a:xfrm>
            <a:off x="9937832" y="2453973"/>
            <a:ext cx="6376887" cy="509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6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COGNITIVE LOAD</a:t>
            </a:r>
            <a:endParaRPr/>
          </a:p>
        </p:txBody>
      </p:sp>
      <p:grpSp>
        <p:nvGrpSpPr>
          <p:cNvPr id="175" name="Google Shape;175;p4"/>
          <p:cNvGrpSpPr/>
          <p:nvPr/>
        </p:nvGrpSpPr>
        <p:grpSpPr>
          <a:xfrm rot="-5400000">
            <a:off x="3443681" y="7343425"/>
            <a:ext cx="10187985" cy="228454"/>
            <a:chOff x="0" y="-47625"/>
            <a:chExt cx="2683255" cy="60168"/>
          </a:xfrm>
        </p:grpSpPr>
        <p:sp>
          <p:nvSpPr>
            <p:cNvPr id="176" name="Google Shape;176;p4"/>
            <p:cNvSpPr/>
            <p:nvPr/>
          </p:nvSpPr>
          <p:spPr>
            <a:xfrm>
              <a:off x="0" y="0"/>
              <a:ext cx="2683255" cy="12543"/>
            </a:xfrm>
            <a:custGeom>
              <a:rect b="b" l="l" r="r" t="t"/>
              <a:pathLst>
                <a:path extrusionOk="0" h="12543" w="2683255">
                  <a:moveTo>
                    <a:pt x="0" y="0"/>
                  </a:moveTo>
                  <a:lnTo>
                    <a:pt x="2683255" y="0"/>
                  </a:lnTo>
                  <a:lnTo>
                    <a:pt x="2683255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4AAD"/>
            </a:solidFill>
            <a:ln>
              <a:noFill/>
            </a:ln>
          </p:spPr>
        </p:sp>
        <p:sp>
          <p:nvSpPr>
            <p:cNvPr id="177" name="Google Shape;177;p4"/>
            <p:cNvSpPr txBox="1"/>
            <p:nvPr/>
          </p:nvSpPr>
          <p:spPr>
            <a:xfrm>
              <a:off x="0" y="-47625"/>
              <a:ext cx="2683255" cy="60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4"/>
          <p:cNvSpPr txBox="1"/>
          <p:nvPr/>
        </p:nvSpPr>
        <p:spPr>
          <a:xfrm>
            <a:off x="9537499" y="5255616"/>
            <a:ext cx="7185627" cy="3718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4" lvl="1" marL="453388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Char char="•"/>
            </a:pPr>
            <a:r>
              <a:rPr b="1" i="0" lang="en-US" sz="20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Low Cognitive Load (1-4)</a:t>
            </a:r>
            <a:r>
              <a:rPr b="0" i="0" lang="en-US" sz="20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"Mindless" or easy viewing. The plot is straightforward, there are few characters to remember, and the dialogue is simple.</a:t>
            </a:r>
            <a:endParaRPr/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6694" lvl="1" marL="453388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Char char="•"/>
            </a:pPr>
            <a:r>
              <a:rPr b="1" i="0" lang="en-US" sz="20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 Cognitive Load (7-10)</a:t>
            </a:r>
            <a:r>
              <a:rPr b="0" i="0" lang="en-US" sz="20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High-complexity content. This involves non-linear timelines (flashbacks/flash-forwards), many interconnected subplots, technical jargon, or a large "ensemble" cast.</a:t>
            </a:r>
            <a:endParaRPr/>
          </a:p>
        </p:txBody>
      </p:sp>
      <p:sp>
        <p:nvSpPr>
          <p:cNvPr id="179" name="Google Shape;179;p4"/>
          <p:cNvSpPr txBox="1"/>
          <p:nvPr/>
        </p:nvSpPr>
        <p:spPr>
          <a:xfrm>
            <a:off x="406098" y="5255616"/>
            <a:ext cx="7447719" cy="3347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4" lvl="1" marL="453388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Char char="•"/>
            </a:pPr>
            <a:r>
              <a:rPr b="1" i="0" lang="en-US" sz="20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Low Pacing (1-4)</a:t>
            </a:r>
            <a:r>
              <a:rPr b="0" i="0" lang="en-US" sz="20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Often called a "Slow Burn." These episodes take their time with character development, long atmospheric shots, and gradual world-building.</a:t>
            </a:r>
            <a:endParaRPr/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6694" lvl="1" marL="453388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Char char="•"/>
            </a:pPr>
            <a:r>
              <a:rPr b="1" i="0" lang="en-US" sz="20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 Pacing (7-10)</a:t>
            </a:r>
            <a:r>
              <a:rPr b="0" i="0" lang="en-US" sz="20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Fast-moving content. Think of an action thriller or a fast-paced sitcom where something new happens every few minutes.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8DFF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5"/>
          <p:cNvGrpSpPr/>
          <p:nvPr/>
        </p:nvGrpSpPr>
        <p:grpSpPr>
          <a:xfrm>
            <a:off x="-1176351" y="-224937"/>
            <a:ext cx="2507938" cy="2184006"/>
            <a:chOff x="0" y="-47625"/>
            <a:chExt cx="711433" cy="619542"/>
          </a:xfrm>
        </p:grpSpPr>
        <p:sp>
          <p:nvSpPr>
            <p:cNvPr id="185" name="Google Shape;185;p5"/>
            <p:cNvSpPr/>
            <p:nvPr/>
          </p:nvSpPr>
          <p:spPr>
            <a:xfrm>
              <a:off x="0" y="0"/>
              <a:ext cx="711433" cy="571917"/>
            </a:xfrm>
            <a:custGeom>
              <a:rect b="b" l="l" r="r" t="t"/>
              <a:pathLst>
                <a:path extrusionOk="0" h="571917" w="711433">
                  <a:moveTo>
                    <a:pt x="508233" y="0"/>
                  </a:moveTo>
                  <a:cubicBezTo>
                    <a:pt x="620457" y="0"/>
                    <a:pt x="711433" y="128028"/>
                    <a:pt x="711433" y="285959"/>
                  </a:cubicBezTo>
                  <a:cubicBezTo>
                    <a:pt x="711433" y="443889"/>
                    <a:pt x="620457" y="571917"/>
                    <a:pt x="508233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>
                <a:alpha val="474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5"/>
            <p:cNvSpPr txBox="1"/>
            <p:nvPr/>
          </p:nvSpPr>
          <p:spPr>
            <a:xfrm>
              <a:off x="0" y="-47625"/>
              <a:ext cx="711433" cy="6195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" name="Google Shape;187;p5"/>
          <p:cNvGrpSpPr/>
          <p:nvPr/>
        </p:nvGrpSpPr>
        <p:grpSpPr>
          <a:xfrm>
            <a:off x="5782357" y="8721752"/>
            <a:ext cx="2507938" cy="2184006"/>
            <a:chOff x="0" y="-47625"/>
            <a:chExt cx="711433" cy="619542"/>
          </a:xfrm>
        </p:grpSpPr>
        <p:sp>
          <p:nvSpPr>
            <p:cNvPr id="188" name="Google Shape;188;p5"/>
            <p:cNvSpPr/>
            <p:nvPr/>
          </p:nvSpPr>
          <p:spPr>
            <a:xfrm>
              <a:off x="0" y="0"/>
              <a:ext cx="711433" cy="571917"/>
            </a:xfrm>
            <a:custGeom>
              <a:rect b="b" l="l" r="r" t="t"/>
              <a:pathLst>
                <a:path extrusionOk="0" h="571917" w="711433">
                  <a:moveTo>
                    <a:pt x="508233" y="0"/>
                  </a:moveTo>
                  <a:cubicBezTo>
                    <a:pt x="620457" y="0"/>
                    <a:pt x="711433" y="128028"/>
                    <a:pt x="711433" y="285959"/>
                  </a:cubicBezTo>
                  <a:cubicBezTo>
                    <a:pt x="711433" y="443889"/>
                    <a:pt x="620457" y="571917"/>
                    <a:pt x="508233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>
                <a:alpha val="823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5"/>
            <p:cNvSpPr txBox="1"/>
            <p:nvPr/>
          </p:nvSpPr>
          <p:spPr>
            <a:xfrm>
              <a:off x="0" y="-47625"/>
              <a:ext cx="711433" cy="6195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5"/>
          <p:cNvSpPr/>
          <p:nvPr/>
        </p:nvSpPr>
        <p:spPr>
          <a:xfrm>
            <a:off x="9286720" y="1556300"/>
            <a:ext cx="8653790" cy="6566064"/>
          </a:xfrm>
          <a:custGeom>
            <a:rect b="b" l="l" r="r" t="t"/>
            <a:pathLst>
              <a:path extrusionOk="0" h="6566064" w="8653790">
                <a:moveTo>
                  <a:pt x="0" y="0"/>
                </a:moveTo>
                <a:lnTo>
                  <a:pt x="8653791" y="0"/>
                </a:lnTo>
                <a:lnTo>
                  <a:pt x="8653791" y="6566064"/>
                </a:lnTo>
                <a:lnTo>
                  <a:pt x="0" y="65660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rnd" cmpd="sng" w="38100">
            <a:solidFill>
              <a:srgbClr val="1800AD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91" name="Google Shape;191;p5"/>
          <p:cNvGrpSpPr/>
          <p:nvPr/>
        </p:nvGrpSpPr>
        <p:grpSpPr>
          <a:xfrm>
            <a:off x="17034031" y="8458450"/>
            <a:ext cx="2507938" cy="2184006"/>
            <a:chOff x="0" y="-47625"/>
            <a:chExt cx="711433" cy="619542"/>
          </a:xfrm>
        </p:grpSpPr>
        <p:sp>
          <p:nvSpPr>
            <p:cNvPr id="192" name="Google Shape;192;p5"/>
            <p:cNvSpPr/>
            <p:nvPr/>
          </p:nvSpPr>
          <p:spPr>
            <a:xfrm>
              <a:off x="0" y="0"/>
              <a:ext cx="711433" cy="571917"/>
            </a:xfrm>
            <a:custGeom>
              <a:rect b="b" l="l" r="r" t="t"/>
              <a:pathLst>
                <a:path extrusionOk="0" h="571917" w="711433">
                  <a:moveTo>
                    <a:pt x="508233" y="0"/>
                  </a:moveTo>
                  <a:cubicBezTo>
                    <a:pt x="620457" y="0"/>
                    <a:pt x="711433" y="128028"/>
                    <a:pt x="711433" y="285959"/>
                  </a:cubicBezTo>
                  <a:cubicBezTo>
                    <a:pt x="711433" y="443889"/>
                    <a:pt x="620457" y="571917"/>
                    <a:pt x="508233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>
                <a:alpha val="6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5"/>
            <p:cNvSpPr txBox="1"/>
            <p:nvPr/>
          </p:nvSpPr>
          <p:spPr>
            <a:xfrm>
              <a:off x="0" y="-47625"/>
              <a:ext cx="711433" cy="6195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" name="Google Shape;194;p5"/>
          <p:cNvGrpSpPr/>
          <p:nvPr/>
        </p:nvGrpSpPr>
        <p:grpSpPr>
          <a:xfrm>
            <a:off x="-1479238" y="7976995"/>
            <a:ext cx="2507938" cy="1657401"/>
            <a:chOff x="0" y="-47625"/>
            <a:chExt cx="711433" cy="470159"/>
          </a:xfrm>
        </p:grpSpPr>
        <p:sp>
          <p:nvSpPr>
            <p:cNvPr id="195" name="Google Shape;195;p5"/>
            <p:cNvSpPr/>
            <p:nvPr/>
          </p:nvSpPr>
          <p:spPr>
            <a:xfrm>
              <a:off x="0" y="0"/>
              <a:ext cx="711433" cy="422534"/>
            </a:xfrm>
            <a:custGeom>
              <a:rect b="b" l="l" r="r" t="t"/>
              <a:pathLst>
                <a:path extrusionOk="0" h="422534" w="711433">
                  <a:moveTo>
                    <a:pt x="508233" y="0"/>
                  </a:moveTo>
                  <a:cubicBezTo>
                    <a:pt x="620457" y="0"/>
                    <a:pt x="711433" y="94587"/>
                    <a:pt x="711433" y="211267"/>
                  </a:cubicBezTo>
                  <a:cubicBezTo>
                    <a:pt x="711433" y="327947"/>
                    <a:pt x="620457" y="422534"/>
                    <a:pt x="508233" y="422534"/>
                  </a:cubicBezTo>
                  <a:lnTo>
                    <a:pt x="203200" y="422534"/>
                  </a:lnTo>
                  <a:cubicBezTo>
                    <a:pt x="90976" y="422534"/>
                    <a:pt x="0" y="327947"/>
                    <a:pt x="0" y="211267"/>
                  </a:cubicBezTo>
                  <a:cubicBezTo>
                    <a:pt x="0" y="9458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>
                <a:alpha val="474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5"/>
            <p:cNvSpPr txBox="1"/>
            <p:nvPr/>
          </p:nvSpPr>
          <p:spPr>
            <a:xfrm>
              <a:off x="0" y="-47625"/>
              <a:ext cx="711433" cy="4701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97" name="Google Shape;197;p5"/>
          <p:cNvGraphicFramePr/>
          <p:nvPr/>
        </p:nvGraphicFramePr>
        <p:xfrm>
          <a:off x="228077" y="2383096"/>
          <a:ext cx="5657850" cy="2514600"/>
        </p:xfrm>
        <a:graphic>
          <a:graphicData uri="http://schemas.openxmlformats.org/presentationml/2006/ole">
            <mc:AlternateContent>
              <mc:Choice Requires="v">
                <p:oleObj r:id="rId5" imgH="2514600" imgW="5657850" progId="Excel.Sheet.12" spid="_x0000_s1">
                  <p:embed/>
                </p:oleObj>
              </mc:Choice>
              <mc:Fallback>
                <p:oleObj r:id="rId6" imgH="2514600" imgW="5657850" progId="Excel.Sheet.12">
                  <p:embed/>
                  <p:pic>
                    <p:nvPicPr>
                      <p:cNvPr id="197" name="Google Shape;197;p5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28077" y="2383096"/>
                        <a:ext cx="5657850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8" name="Google Shape;198;p5"/>
          <p:cNvSpPr txBox="1"/>
          <p:nvPr/>
        </p:nvSpPr>
        <p:spPr>
          <a:xfrm>
            <a:off x="228077" y="370800"/>
            <a:ext cx="9058644" cy="829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23" u="none" cap="none" strike="noStrik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PACE  VS  COGNITIVE LOAD</a:t>
            </a:r>
            <a:endParaRPr/>
          </a:p>
        </p:txBody>
      </p:sp>
      <p:sp>
        <p:nvSpPr>
          <p:cNvPr id="199" name="Google Shape;199;p5"/>
          <p:cNvSpPr txBox="1"/>
          <p:nvPr/>
        </p:nvSpPr>
        <p:spPr>
          <a:xfrm>
            <a:off x="228077" y="1661331"/>
            <a:ext cx="6376887" cy="509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6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KEY findings: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5" name="Google Shape;205;p6"/>
          <p:cNvGrpSpPr/>
          <p:nvPr/>
        </p:nvGrpSpPr>
        <p:grpSpPr>
          <a:xfrm>
            <a:off x="-136918" y="-312477"/>
            <a:ext cx="19595223" cy="10731128"/>
            <a:chOff x="0" y="-47625"/>
            <a:chExt cx="5160882" cy="2826305"/>
          </a:xfrm>
        </p:grpSpPr>
        <p:sp>
          <p:nvSpPr>
            <p:cNvPr id="206" name="Google Shape;206;p6"/>
            <p:cNvSpPr/>
            <p:nvPr/>
          </p:nvSpPr>
          <p:spPr>
            <a:xfrm>
              <a:off x="0" y="0"/>
              <a:ext cx="5160882" cy="2778680"/>
            </a:xfrm>
            <a:custGeom>
              <a:rect b="b" l="l" r="r" t="t"/>
              <a:pathLst>
                <a:path extrusionOk="0" h="2778680" w="5160882">
                  <a:moveTo>
                    <a:pt x="0" y="0"/>
                  </a:moveTo>
                  <a:lnTo>
                    <a:pt x="5160882" y="0"/>
                  </a:lnTo>
                  <a:lnTo>
                    <a:pt x="5160882" y="2778680"/>
                  </a:lnTo>
                  <a:lnTo>
                    <a:pt x="0" y="2778680"/>
                  </a:lnTo>
                  <a:close/>
                </a:path>
              </a:pathLst>
            </a:custGeom>
            <a:solidFill>
              <a:srgbClr val="004AAD"/>
            </a:solidFill>
            <a:ln>
              <a:noFill/>
            </a:ln>
          </p:spPr>
        </p:sp>
        <p:sp>
          <p:nvSpPr>
            <p:cNvPr id="207" name="Google Shape;207;p6"/>
            <p:cNvSpPr txBox="1"/>
            <p:nvPr/>
          </p:nvSpPr>
          <p:spPr>
            <a:xfrm>
              <a:off x="0" y="-47625"/>
              <a:ext cx="5160882" cy="28263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p6"/>
          <p:cNvSpPr/>
          <p:nvPr/>
        </p:nvSpPr>
        <p:spPr>
          <a:xfrm>
            <a:off x="12936661" y="213852"/>
            <a:ext cx="4569631" cy="1172737"/>
          </a:xfrm>
          <a:custGeom>
            <a:rect b="b" l="l" r="r" t="t"/>
            <a:pathLst>
              <a:path extrusionOk="0" h="1172737" w="4569631">
                <a:moveTo>
                  <a:pt x="0" y="0"/>
                </a:moveTo>
                <a:lnTo>
                  <a:pt x="4569631" y="0"/>
                </a:lnTo>
                <a:lnTo>
                  <a:pt x="4569631" y="1172737"/>
                </a:lnTo>
                <a:lnTo>
                  <a:pt x="0" y="11727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6"/>
          <p:cNvSpPr txBox="1"/>
          <p:nvPr/>
        </p:nvSpPr>
        <p:spPr>
          <a:xfrm>
            <a:off x="126384" y="591784"/>
            <a:ext cx="11653462" cy="79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08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STRATEGIC  RECOMMENDATIONS</a:t>
            </a:r>
            <a:endParaRPr/>
          </a:p>
        </p:txBody>
      </p:sp>
      <p:sp>
        <p:nvSpPr>
          <p:cNvPr id="210" name="Google Shape;210;p6"/>
          <p:cNvSpPr txBox="1"/>
          <p:nvPr/>
        </p:nvSpPr>
        <p:spPr>
          <a:xfrm>
            <a:off x="396285" y="2079650"/>
            <a:ext cx="7672858" cy="733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1883" lvl="1" marL="523766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25"/>
              <a:buFont typeface="Arial"/>
              <a:buChar char="•"/>
            </a:pPr>
            <a:r>
              <a:rPr b="1" i="0" lang="en-US" sz="24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Increase Narrative Velocity</a:t>
            </a:r>
            <a:r>
              <a:rPr b="0" i="0" lang="en-US" sz="24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For "Danger Zone" episodes (Pacing &lt; 5), recommend tighter editing in the second act to increase the pacing score and maintain viewer momentum.</a:t>
            </a:r>
            <a:endParaRPr/>
          </a:p>
          <a:p>
            <a:pPr indent="0" lvl="0" marL="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25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72678" lvl="1" marL="545355" marR="0" rtl="0" algn="l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25"/>
              <a:buFont typeface="Arial"/>
              <a:buChar char="•"/>
            </a:pPr>
            <a:r>
              <a:rPr b="1" i="0" lang="en-US" sz="25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Strategic "Breather" Placement</a:t>
            </a:r>
            <a:r>
              <a:rPr b="0" i="0" lang="en-US" sz="25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Ensure that episodes with a Cognitive Load ‘ &gt; 8 ‘ are followed by a "Balanced" episode to prevent viewer fatigue and cumulative drop-off.</a:t>
            </a:r>
            <a:endParaRPr/>
          </a:p>
          <a:p>
            <a:pPr indent="0" lvl="0" marL="0" marR="0" rtl="0" algn="l">
              <a:lnSpc>
                <a:spcPct val="128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25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61883" lvl="1" marL="523766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25"/>
              <a:buFont typeface="Arial"/>
              <a:buChar char="•"/>
            </a:pPr>
            <a:r>
              <a:rPr b="1" i="0" lang="en-US" sz="24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Distribute Complexity:</a:t>
            </a:r>
            <a:r>
              <a:rPr b="0" i="0" lang="en-US" sz="24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Work with showrunners to "unbundle" complex plot points (Cognitive Load) across multiple episodes rather than clustering them into one, reducing the risk of 0.67 drop-off probability.</a:t>
            </a:r>
            <a:endParaRPr/>
          </a:p>
          <a:p>
            <a:pPr indent="0" lvl="0" marL="0" marR="0" rtl="0" algn="l">
              <a:lnSpc>
                <a:spcPct val="1342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25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11" name="Google Shape;211;p6"/>
          <p:cNvGrpSpPr/>
          <p:nvPr/>
        </p:nvGrpSpPr>
        <p:grpSpPr>
          <a:xfrm rot="-5400000">
            <a:off x="4909066" y="5832482"/>
            <a:ext cx="8140675" cy="228611"/>
            <a:chOff x="0" y="-47625"/>
            <a:chExt cx="2144046" cy="60209"/>
          </a:xfrm>
        </p:grpSpPr>
        <p:sp>
          <p:nvSpPr>
            <p:cNvPr id="212" name="Google Shape;212;p6"/>
            <p:cNvSpPr/>
            <p:nvPr/>
          </p:nvSpPr>
          <p:spPr>
            <a:xfrm>
              <a:off x="0" y="0"/>
              <a:ext cx="2144046" cy="12584"/>
            </a:xfrm>
            <a:custGeom>
              <a:rect b="b" l="l" r="r" t="t"/>
              <a:pathLst>
                <a:path extrusionOk="0" h="12584" w="2144046">
                  <a:moveTo>
                    <a:pt x="0" y="0"/>
                  </a:moveTo>
                  <a:lnTo>
                    <a:pt x="2144046" y="0"/>
                  </a:lnTo>
                  <a:lnTo>
                    <a:pt x="2144046" y="12584"/>
                  </a:lnTo>
                  <a:lnTo>
                    <a:pt x="0" y="1258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213" name="Google Shape;213;p6"/>
            <p:cNvSpPr txBox="1"/>
            <p:nvPr/>
          </p:nvSpPr>
          <p:spPr>
            <a:xfrm>
              <a:off x="0" y="-47625"/>
              <a:ext cx="2144046" cy="602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6"/>
          <p:cNvSpPr txBox="1"/>
          <p:nvPr/>
        </p:nvSpPr>
        <p:spPr>
          <a:xfrm>
            <a:off x="9660693" y="2276500"/>
            <a:ext cx="7598607" cy="684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1883" lvl="1" marL="523766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25"/>
              <a:buFont typeface="Arial"/>
              <a:buChar char="•"/>
            </a:pPr>
            <a:r>
              <a:rPr b="1" i="0" lang="en-US" sz="24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Interactive Character/Plot Maps: </a:t>
            </a:r>
            <a:r>
              <a:rPr b="0" i="0" lang="en-US" sz="24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Deploy a UI overlay for episodes with high cognitive_load (e.g., Sci-Fi or Thriller genres) to help viewers track complex subplots in real-time.</a:t>
            </a:r>
            <a:endParaRPr/>
          </a:p>
          <a:p>
            <a:pPr indent="0" lvl="0" marL="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25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61883" lvl="1" marL="523766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25"/>
              <a:buFont typeface="Arial"/>
              <a:buChar char="•"/>
            </a:pPr>
            <a:r>
              <a:rPr b="1" i="0" lang="en-US" sz="24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Friction-Triggered Recaps: </a:t>
            </a:r>
            <a:r>
              <a:rPr b="0" i="0" lang="en-US" sz="24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If a viewer exceeds a specific pause_count or rewind_count threshold, the platform should offer an "Enhanced Recap" before the next episode to resolve confusion.</a:t>
            </a:r>
            <a:endParaRPr/>
          </a:p>
          <a:p>
            <a:pPr indent="0" lvl="0" marL="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25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61883" lvl="1" marL="523766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25"/>
              <a:buFont typeface="Arial"/>
              <a:buChar char="•"/>
            </a:pPr>
            <a:r>
              <a:rPr b="1" i="0" lang="en-US" sz="24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Optimized Auto-Play Timers:</a:t>
            </a:r>
            <a:r>
              <a:rPr b="0" i="0" lang="en-US" sz="242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Shorten the transition time between episodes for shows in the "At-Risk" segment to leverage immediate curiosity and bypass the </a:t>
            </a:r>
            <a:endParaRPr/>
          </a:p>
          <a:p>
            <a:pPr indent="0" lvl="0" marL="0" marR="0" rtl="0" algn="l">
              <a:lnSpc>
                <a:spcPct val="1342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25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7"/>
          <p:cNvGrpSpPr/>
          <p:nvPr/>
        </p:nvGrpSpPr>
        <p:grpSpPr>
          <a:xfrm>
            <a:off x="0" y="-144661"/>
            <a:ext cx="4481135" cy="10431661"/>
            <a:chOff x="0" y="-38100"/>
            <a:chExt cx="1180217" cy="2747433"/>
          </a:xfrm>
        </p:grpSpPr>
        <p:sp>
          <p:nvSpPr>
            <p:cNvPr id="220" name="Google Shape;220;p7"/>
            <p:cNvSpPr/>
            <p:nvPr/>
          </p:nvSpPr>
          <p:spPr>
            <a:xfrm>
              <a:off x="0" y="0"/>
              <a:ext cx="1180217" cy="2709333"/>
            </a:xfrm>
            <a:custGeom>
              <a:rect b="b" l="l" r="r" t="t"/>
              <a:pathLst>
                <a:path extrusionOk="0" h="2709333" w="1180217">
                  <a:moveTo>
                    <a:pt x="0" y="0"/>
                  </a:moveTo>
                  <a:lnTo>
                    <a:pt x="1180217" y="0"/>
                  </a:lnTo>
                  <a:lnTo>
                    <a:pt x="118021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45E4">
                <a:alpha val="34901"/>
              </a:srgbClr>
            </a:solidFill>
            <a:ln>
              <a:noFill/>
            </a:ln>
          </p:spPr>
        </p:sp>
        <p:sp>
          <p:nvSpPr>
            <p:cNvPr id="221" name="Google Shape;221;p7"/>
            <p:cNvSpPr txBox="1"/>
            <p:nvPr/>
          </p:nvSpPr>
          <p:spPr>
            <a:xfrm>
              <a:off x="0" y="-38100"/>
              <a:ext cx="1180217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22" name="Google Shape;222;p7"/>
          <p:cNvCxnSpPr/>
          <p:nvPr/>
        </p:nvCxnSpPr>
        <p:spPr>
          <a:xfrm>
            <a:off x="916626" y="1908721"/>
            <a:ext cx="1310100" cy="0"/>
          </a:xfrm>
          <a:prstGeom prst="straightConnector1">
            <a:avLst/>
          </a:prstGeom>
          <a:noFill/>
          <a:ln cap="flat" cmpd="sng" w="952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3" name="Google Shape;223;p7"/>
          <p:cNvGrpSpPr/>
          <p:nvPr/>
        </p:nvGrpSpPr>
        <p:grpSpPr>
          <a:xfrm rot="5400000">
            <a:off x="3281538" y="-6876658"/>
            <a:ext cx="4481135" cy="14331389"/>
            <a:chOff x="0" y="-38100"/>
            <a:chExt cx="1180211" cy="3774428"/>
          </a:xfrm>
        </p:grpSpPr>
        <p:sp>
          <p:nvSpPr>
            <p:cNvPr id="224" name="Google Shape;224;p7"/>
            <p:cNvSpPr/>
            <p:nvPr/>
          </p:nvSpPr>
          <p:spPr>
            <a:xfrm>
              <a:off x="0" y="0"/>
              <a:ext cx="1180211" cy="3736328"/>
            </a:xfrm>
            <a:custGeom>
              <a:rect b="b" l="l" r="r" t="t"/>
              <a:pathLst>
                <a:path extrusionOk="0" h="3736328" w="1180211">
                  <a:moveTo>
                    <a:pt x="1180211" y="139941"/>
                  </a:moveTo>
                  <a:lnTo>
                    <a:pt x="1180211" y="3596387"/>
                  </a:lnTo>
                  <a:cubicBezTo>
                    <a:pt x="1180211" y="3673674"/>
                    <a:pt x="1117557" y="3736328"/>
                    <a:pt x="1040270" y="3736328"/>
                  </a:cubicBezTo>
                  <a:lnTo>
                    <a:pt x="139941" y="3736328"/>
                  </a:lnTo>
                  <a:cubicBezTo>
                    <a:pt x="62654" y="3736328"/>
                    <a:pt x="0" y="3673674"/>
                    <a:pt x="0" y="3596387"/>
                  </a:cubicBezTo>
                  <a:lnTo>
                    <a:pt x="0" y="139941"/>
                  </a:lnTo>
                  <a:cubicBezTo>
                    <a:pt x="0" y="62654"/>
                    <a:pt x="62654" y="0"/>
                    <a:pt x="139941" y="0"/>
                  </a:cubicBezTo>
                  <a:lnTo>
                    <a:pt x="1040270" y="0"/>
                  </a:lnTo>
                  <a:cubicBezTo>
                    <a:pt x="1077385" y="0"/>
                    <a:pt x="1112979" y="14744"/>
                    <a:pt x="1139223" y="40988"/>
                  </a:cubicBezTo>
                  <a:cubicBezTo>
                    <a:pt x="1165467" y="67232"/>
                    <a:pt x="1180211" y="102827"/>
                    <a:pt x="1180211" y="139941"/>
                  </a:cubicBezTo>
                  <a:close/>
                </a:path>
              </a:pathLst>
            </a:custGeom>
            <a:solidFill>
              <a:srgbClr val="0345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7"/>
            <p:cNvSpPr txBox="1"/>
            <p:nvPr/>
          </p:nvSpPr>
          <p:spPr>
            <a:xfrm>
              <a:off x="0" y="-38100"/>
              <a:ext cx="1180211" cy="37744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7"/>
          <p:cNvSpPr txBox="1"/>
          <p:nvPr/>
        </p:nvSpPr>
        <p:spPr>
          <a:xfrm>
            <a:off x="312812" y="372121"/>
            <a:ext cx="12418519" cy="1739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 DESIGN ENHANCEMENT SUGGESTION</a:t>
            </a:r>
            <a:endParaRPr/>
          </a:p>
        </p:txBody>
      </p:sp>
      <p:grpSp>
        <p:nvGrpSpPr>
          <p:cNvPr id="227" name="Google Shape;227;p7"/>
          <p:cNvGrpSpPr/>
          <p:nvPr/>
        </p:nvGrpSpPr>
        <p:grpSpPr>
          <a:xfrm>
            <a:off x="15740861" y="6749958"/>
            <a:ext cx="4596322" cy="4596322"/>
            <a:chOff x="0" y="0"/>
            <a:chExt cx="812800" cy="812800"/>
          </a:xfrm>
        </p:grpSpPr>
        <p:sp>
          <p:nvSpPr>
            <p:cNvPr id="228" name="Google Shape;228;p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762000">
              <a:solidFill>
                <a:srgbClr val="F6F6F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7"/>
          <p:cNvGrpSpPr/>
          <p:nvPr/>
        </p:nvGrpSpPr>
        <p:grpSpPr>
          <a:xfrm rot="5400000">
            <a:off x="17293972" y="-485301"/>
            <a:ext cx="1479329" cy="1548673"/>
            <a:chOff x="0" y="-38100"/>
            <a:chExt cx="812800" cy="850900"/>
          </a:xfrm>
        </p:grpSpPr>
        <p:sp>
          <p:nvSpPr>
            <p:cNvPr id="231" name="Google Shape;231;p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266903" y="0"/>
                  </a:moveTo>
                  <a:lnTo>
                    <a:pt x="545897" y="0"/>
                  </a:lnTo>
                  <a:cubicBezTo>
                    <a:pt x="693303" y="0"/>
                    <a:pt x="812800" y="119497"/>
                    <a:pt x="812800" y="266903"/>
                  </a:cubicBezTo>
                  <a:lnTo>
                    <a:pt x="812800" y="545897"/>
                  </a:lnTo>
                  <a:cubicBezTo>
                    <a:pt x="812800" y="693303"/>
                    <a:pt x="693303" y="812800"/>
                    <a:pt x="545897" y="812800"/>
                  </a:cubicBezTo>
                  <a:lnTo>
                    <a:pt x="266903" y="812800"/>
                  </a:lnTo>
                  <a:cubicBezTo>
                    <a:pt x="119497" y="812800"/>
                    <a:pt x="0" y="693303"/>
                    <a:pt x="0" y="545897"/>
                  </a:cubicBezTo>
                  <a:lnTo>
                    <a:pt x="0" y="266903"/>
                  </a:lnTo>
                  <a:cubicBezTo>
                    <a:pt x="0" y="119497"/>
                    <a:pt x="119497" y="0"/>
                    <a:pt x="266903" y="0"/>
                  </a:cubicBezTo>
                  <a:close/>
                </a:path>
              </a:pathLst>
            </a:custGeom>
            <a:solidFill>
              <a:srgbClr val="0345E4">
                <a:alpha val="2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7"/>
          <p:cNvSpPr txBox="1"/>
          <p:nvPr/>
        </p:nvSpPr>
        <p:spPr>
          <a:xfrm>
            <a:off x="911205" y="3152800"/>
            <a:ext cx="16605491" cy="6146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4267" lvl="1" marL="588534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725"/>
              <a:buFont typeface="Arial"/>
              <a:buChar char="•"/>
            </a:pPr>
            <a:r>
              <a:rPr b="1" i="0" lang="en-US" sz="2725" u="none" cap="none" strike="noStrike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Interactive Character/Plot Maps:  </a:t>
            </a:r>
            <a:r>
              <a:rPr b="0" i="0" lang="en-US" sz="2725" u="none" cap="none" strike="noStrike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Deploy a UI overlay for episodes with high cognitive_load (e.g., Sci-Fi or Thriller genres) to help viewers track complex subplots in real-time.</a:t>
            </a:r>
            <a:endParaRPr/>
          </a:p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25" u="none" cap="none" strike="noStrike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4267" lvl="1" marL="588534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725"/>
              <a:buFont typeface="Arial"/>
              <a:buChar char="•"/>
            </a:pPr>
            <a:r>
              <a:rPr b="1" i="0" lang="en-US" sz="2725" u="none" cap="none" strike="noStrike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Friction-Triggered Recaps: </a:t>
            </a:r>
            <a:r>
              <a:rPr b="0" i="0" lang="en-US" sz="2725" u="none" cap="none" strike="noStrike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If a viewer exceeds a specific pause_count or rewind_count threshold, the platform should offer an "Enhanced Recap" before the next episode to resolve confusion.</a:t>
            </a:r>
            <a:endParaRPr/>
          </a:p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25" u="none" cap="none" strike="noStrike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4267" lvl="1" marL="588534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725"/>
              <a:buFont typeface="Arial"/>
              <a:buChar char="•"/>
            </a:pPr>
            <a:r>
              <a:rPr b="1" i="0" lang="en-US" sz="2725" u="none" cap="none" strike="noStrike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Optimized Auto-Play Timers:</a:t>
            </a:r>
            <a:r>
              <a:rPr b="0" i="0" lang="en-US" sz="2725" u="none" cap="none" strike="noStrike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 Shorten the transition time between episodes for shows in the "At-Risk" segment to leverage immediate curiosity and bypass the </a:t>
            </a:r>
            <a:endParaRPr/>
          </a:p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25" u="none" cap="none" strike="noStrike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4267" lvl="1" marL="588534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725"/>
              <a:buFont typeface="Arial"/>
              <a:buChar char="•"/>
            </a:pPr>
            <a:r>
              <a:rPr b="1" i="0" lang="en-US" sz="2725" u="none" cap="none" strike="noStrike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Companion AI:</a:t>
            </a:r>
            <a:r>
              <a:rPr b="0" i="0" lang="en-US" sz="2725" u="none" cap="none" strike="noStrike">
                <a:solidFill>
                  <a:srgbClr val="1F1F1F"/>
                </a:solidFill>
                <a:latin typeface="Poppins"/>
                <a:ea typeface="Poppins"/>
                <a:cs typeface="Poppins"/>
                <a:sym typeface="Poppins"/>
              </a:rPr>
              <a:t>  Integrate an ai chatbot which gives extra information about characters and resolves doubts of the viewers with friendly interaction.</a:t>
            </a:r>
            <a:endParaRPr/>
          </a:p>
          <a:p>
            <a:pPr indent="0" lvl="0" marL="0" marR="0" rtl="0" algn="l">
              <a:lnSpc>
                <a:spcPct val="1194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25" u="none" cap="none" strike="noStrike">
              <a:solidFill>
                <a:srgbClr val="1F1F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8"/>
          <p:cNvGrpSpPr/>
          <p:nvPr/>
        </p:nvGrpSpPr>
        <p:grpSpPr>
          <a:xfrm>
            <a:off x="12668277" y="-48203"/>
            <a:ext cx="5833966" cy="10335220"/>
            <a:chOff x="0" y="-38100"/>
            <a:chExt cx="4609553" cy="8166100"/>
          </a:xfrm>
        </p:grpSpPr>
        <p:sp>
          <p:nvSpPr>
            <p:cNvPr id="239" name="Google Shape;239;p8"/>
            <p:cNvSpPr/>
            <p:nvPr/>
          </p:nvSpPr>
          <p:spPr>
            <a:xfrm>
              <a:off x="0" y="0"/>
              <a:ext cx="4609553" cy="8128000"/>
            </a:xfrm>
            <a:custGeom>
              <a:rect b="b" l="l" r="r" t="t"/>
              <a:pathLst>
                <a:path extrusionOk="0" h="8128000" w="4609553">
                  <a:moveTo>
                    <a:pt x="0" y="0"/>
                  </a:moveTo>
                  <a:lnTo>
                    <a:pt x="4609553" y="0"/>
                  </a:lnTo>
                  <a:lnTo>
                    <a:pt x="4609553" y="8128000"/>
                  </a:lnTo>
                  <a:lnTo>
                    <a:pt x="0" y="8128000"/>
                  </a:lnTo>
                  <a:close/>
                </a:path>
              </a:pathLst>
            </a:custGeom>
            <a:solidFill>
              <a:srgbClr val="F6F6F6"/>
            </a:solidFill>
            <a:ln>
              <a:noFill/>
            </a:ln>
          </p:spPr>
        </p:sp>
        <p:sp>
          <p:nvSpPr>
            <p:cNvPr id="240" name="Google Shape;240;p8"/>
            <p:cNvSpPr txBox="1"/>
            <p:nvPr/>
          </p:nvSpPr>
          <p:spPr>
            <a:xfrm>
              <a:off x="0" y="-38100"/>
              <a:ext cx="4609553" cy="81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41" name="Google Shape;241;p8"/>
          <p:cNvCxnSpPr/>
          <p:nvPr/>
        </p:nvCxnSpPr>
        <p:spPr>
          <a:xfrm>
            <a:off x="-681866" y="5550056"/>
            <a:ext cx="20507376" cy="0"/>
          </a:xfrm>
          <a:prstGeom prst="straightConnector1">
            <a:avLst/>
          </a:prstGeom>
          <a:noFill/>
          <a:ln cap="flat" cmpd="sng" w="47625">
            <a:solidFill>
              <a:srgbClr val="000000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8"/>
          <p:cNvCxnSpPr/>
          <p:nvPr/>
        </p:nvCxnSpPr>
        <p:spPr>
          <a:xfrm flipH="1">
            <a:off x="9132094" y="1527292"/>
            <a:ext cx="11906" cy="8759725"/>
          </a:xfrm>
          <a:prstGeom prst="straightConnector1">
            <a:avLst/>
          </a:prstGeom>
          <a:noFill/>
          <a:ln cap="flat" cmpd="sng" w="47625">
            <a:solidFill>
              <a:srgbClr val="000000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3" name="Google Shape;243;p8"/>
          <p:cNvGrpSpPr/>
          <p:nvPr/>
        </p:nvGrpSpPr>
        <p:grpSpPr>
          <a:xfrm>
            <a:off x="1505168" y="1468750"/>
            <a:ext cx="4316989" cy="744312"/>
            <a:chOff x="0" y="-47625"/>
            <a:chExt cx="2746403" cy="473520"/>
          </a:xfrm>
        </p:grpSpPr>
        <p:sp>
          <p:nvSpPr>
            <p:cNvPr id="244" name="Google Shape;244;p8"/>
            <p:cNvSpPr/>
            <p:nvPr/>
          </p:nvSpPr>
          <p:spPr>
            <a:xfrm>
              <a:off x="0" y="0"/>
              <a:ext cx="2746403" cy="425895"/>
            </a:xfrm>
            <a:custGeom>
              <a:rect b="b" l="l" r="r" t="t"/>
              <a:pathLst>
                <a:path extrusionOk="0" h="425895" w="2746403">
                  <a:moveTo>
                    <a:pt x="2543203" y="0"/>
                  </a:moveTo>
                  <a:cubicBezTo>
                    <a:pt x="2655427" y="0"/>
                    <a:pt x="2746403" y="95340"/>
                    <a:pt x="2746403" y="212948"/>
                  </a:cubicBezTo>
                  <a:cubicBezTo>
                    <a:pt x="2746403" y="330556"/>
                    <a:pt x="2655427" y="425895"/>
                    <a:pt x="2543203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45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8"/>
            <p:cNvSpPr txBox="1"/>
            <p:nvPr/>
          </p:nvSpPr>
          <p:spPr>
            <a:xfrm>
              <a:off x="0" y="-47625"/>
              <a:ext cx="2746403" cy="473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1. Performance KPIs</a:t>
              </a:r>
              <a:endParaRPr/>
            </a:p>
          </p:txBody>
        </p:sp>
      </p:grpSp>
      <p:grpSp>
        <p:nvGrpSpPr>
          <p:cNvPr id="246" name="Google Shape;246;p8"/>
          <p:cNvGrpSpPr/>
          <p:nvPr/>
        </p:nvGrpSpPr>
        <p:grpSpPr>
          <a:xfrm>
            <a:off x="1505168" y="5899521"/>
            <a:ext cx="4895643" cy="744312"/>
            <a:chOff x="0" y="-47625"/>
            <a:chExt cx="3114534" cy="473520"/>
          </a:xfrm>
        </p:grpSpPr>
        <p:sp>
          <p:nvSpPr>
            <p:cNvPr id="247" name="Google Shape;247;p8"/>
            <p:cNvSpPr/>
            <p:nvPr/>
          </p:nvSpPr>
          <p:spPr>
            <a:xfrm>
              <a:off x="0" y="0"/>
              <a:ext cx="3114534" cy="425895"/>
            </a:xfrm>
            <a:custGeom>
              <a:rect b="b" l="l" r="r" t="t"/>
              <a:pathLst>
                <a:path extrusionOk="0" h="425895" w="3114534">
                  <a:moveTo>
                    <a:pt x="2911334" y="0"/>
                  </a:moveTo>
                  <a:cubicBezTo>
                    <a:pt x="3023558" y="0"/>
                    <a:pt x="3114534" y="95340"/>
                    <a:pt x="3114534" y="212948"/>
                  </a:cubicBezTo>
                  <a:cubicBezTo>
                    <a:pt x="3114534" y="330556"/>
                    <a:pt x="3023558" y="425895"/>
                    <a:pt x="2911334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8"/>
            <p:cNvSpPr txBox="1"/>
            <p:nvPr/>
          </p:nvSpPr>
          <p:spPr>
            <a:xfrm>
              <a:off x="0" y="-47625"/>
              <a:ext cx="3114534" cy="473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2. Pre-Production Modeling</a:t>
              </a:r>
              <a:endParaRPr/>
            </a:p>
          </p:txBody>
        </p:sp>
      </p:grpSp>
      <p:grpSp>
        <p:nvGrpSpPr>
          <p:cNvPr id="249" name="Google Shape;249;p8"/>
          <p:cNvGrpSpPr/>
          <p:nvPr/>
        </p:nvGrpSpPr>
        <p:grpSpPr>
          <a:xfrm>
            <a:off x="10916047" y="1468750"/>
            <a:ext cx="4316989" cy="744312"/>
            <a:chOff x="0" y="-47625"/>
            <a:chExt cx="2746403" cy="473520"/>
          </a:xfrm>
        </p:grpSpPr>
        <p:sp>
          <p:nvSpPr>
            <p:cNvPr id="250" name="Google Shape;250;p8"/>
            <p:cNvSpPr/>
            <p:nvPr/>
          </p:nvSpPr>
          <p:spPr>
            <a:xfrm>
              <a:off x="0" y="0"/>
              <a:ext cx="2746403" cy="425895"/>
            </a:xfrm>
            <a:custGeom>
              <a:rect b="b" l="l" r="r" t="t"/>
              <a:pathLst>
                <a:path extrusionOk="0" h="425895" w="2746403">
                  <a:moveTo>
                    <a:pt x="2543203" y="0"/>
                  </a:moveTo>
                  <a:cubicBezTo>
                    <a:pt x="2655427" y="0"/>
                    <a:pt x="2746403" y="95340"/>
                    <a:pt x="2746403" y="212948"/>
                  </a:cubicBezTo>
                  <a:cubicBezTo>
                    <a:pt x="2746403" y="330556"/>
                    <a:pt x="2655427" y="425895"/>
                    <a:pt x="2543203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8"/>
            <p:cNvSpPr txBox="1"/>
            <p:nvPr/>
          </p:nvSpPr>
          <p:spPr>
            <a:xfrm>
              <a:off x="0" y="-47625"/>
              <a:ext cx="2746403" cy="473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3. Scalable UI Innovation</a:t>
              </a:r>
              <a:endParaRPr/>
            </a:p>
          </p:txBody>
        </p:sp>
      </p:grpSp>
      <p:grpSp>
        <p:nvGrpSpPr>
          <p:cNvPr id="252" name="Google Shape;252;p8"/>
          <p:cNvGrpSpPr/>
          <p:nvPr/>
        </p:nvGrpSpPr>
        <p:grpSpPr>
          <a:xfrm>
            <a:off x="10563822" y="5860959"/>
            <a:ext cx="5021438" cy="744312"/>
            <a:chOff x="0" y="-47625"/>
            <a:chExt cx="3194563" cy="473520"/>
          </a:xfrm>
        </p:grpSpPr>
        <p:sp>
          <p:nvSpPr>
            <p:cNvPr id="253" name="Google Shape;253;p8"/>
            <p:cNvSpPr/>
            <p:nvPr/>
          </p:nvSpPr>
          <p:spPr>
            <a:xfrm>
              <a:off x="0" y="0"/>
              <a:ext cx="3194563" cy="425895"/>
            </a:xfrm>
            <a:custGeom>
              <a:rect b="b" l="l" r="r" t="t"/>
              <a:pathLst>
                <a:path extrusionOk="0" h="425895" w="3194563">
                  <a:moveTo>
                    <a:pt x="2991363" y="0"/>
                  </a:moveTo>
                  <a:cubicBezTo>
                    <a:pt x="3103587" y="0"/>
                    <a:pt x="3194563" y="95340"/>
                    <a:pt x="3194563" y="212948"/>
                  </a:cubicBezTo>
                  <a:cubicBezTo>
                    <a:pt x="3194563" y="330556"/>
                    <a:pt x="3103587" y="425895"/>
                    <a:pt x="2991363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45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8"/>
            <p:cNvSpPr txBox="1"/>
            <p:nvPr/>
          </p:nvSpPr>
          <p:spPr>
            <a:xfrm>
              <a:off x="0" y="-47625"/>
              <a:ext cx="3194563" cy="473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4. Cultural Integration</a:t>
              </a:r>
              <a:endParaRPr/>
            </a:p>
          </p:txBody>
        </p:sp>
      </p:grpSp>
      <p:sp>
        <p:nvSpPr>
          <p:cNvPr id="255" name="Google Shape;255;p8"/>
          <p:cNvSpPr txBox="1"/>
          <p:nvPr/>
        </p:nvSpPr>
        <p:spPr>
          <a:xfrm>
            <a:off x="551064" y="174624"/>
            <a:ext cx="15373910" cy="8540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FUTURE-PROOFING &amp; MEASURING IMPACT</a:t>
            </a:r>
            <a:endParaRPr/>
          </a:p>
        </p:txBody>
      </p:sp>
      <p:sp>
        <p:nvSpPr>
          <p:cNvPr id="256" name="Google Shape;256;p8"/>
          <p:cNvSpPr txBox="1"/>
          <p:nvPr/>
        </p:nvSpPr>
        <p:spPr>
          <a:xfrm>
            <a:off x="608642" y="2628186"/>
            <a:ext cx="7629377" cy="3046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8285" lvl="1" marL="496571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Target Risk Reduction: Aim to migrate "Danger Zone" episodes to a drop-off probability of 0.42 (the platform average).</a:t>
            </a:r>
            <a:endParaRPr/>
          </a:p>
          <a:p>
            <a:pPr indent="-248285" lvl="1" marL="496571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Friction Benchmarks: Track a 15% reduction in rewind_count and pause_count following UI interventions.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9629923" y="2503961"/>
            <a:ext cx="7629377" cy="3046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8285" lvl="1" marL="496571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A/B Testing: Launch the "Character Guide" overlay on a single high-complexity series to validate retention lift before a full rollout.</a:t>
            </a:r>
            <a:endParaRPr/>
          </a:p>
          <a:p>
            <a:pPr indent="-248285" lvl="1" marL="496571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Dynamic Recaps: Develop automated recaps that lengthen or shorten based on a viewer's individual "Friction Score" (pauses/rewinds).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8" name="Google Shape;258;p8"/>
          <p:cNvSpPr txBox="1"/>
          <p:nvPr/>
        </p:nvSpPr>
        <p:spPr>
          <a:xfrm>
            <a:off x="554351" y="6977208"/>
            <a:ext cx="7629377" cy="3046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8285" lvl="1" marL="496571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Script Scoring: Implement a "Predictive Pacing Model" during the script phase to identify high-load episodes before filming.</a:t>
            </a:r>
            <a:endParaRPr/>
          </a:p>
          <a:p>
            <a:pPr indent="-248285" lvl="1" marL="496571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Arc Distribution: Mandate a "Complexity Cap" per episode to ensure plot-heavy beats are distributed evenly across the season.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9780876" y="6900546"/>
            <a:ext cx="7629377" cy="3046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8285" lvl="1" marL="496571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Creative Partnership: Position data insights as "Audience Advocacy" tools to help showrunners ensure their stories are understood.</a:t>
            </a:r>
            <a:endParaRPr/>
          </a:p>
          <a:p>
            <a:pPr indent="-248285" lvl="1" marL="496571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Agile Post-Production: Shift toward a "Data-Led Edit" where early viewer data from the pilot informs the final cut of later episodes.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60" name="Google Shape;260;p8"/>
          <p:cNvGrpSpPr/>
          <p:nvPr/>
        </p:nvGrpSpPr>
        <p:grpSpPr>
          <a:xfrm>
            <a:off x="14880811" y="-1915255"/>
            <a:ext cx="3744615" cy="3744615"/>
            <a:chOff x="0" y="0"/>
            <a:chExt cx="812800" cy="812800"/>
          </a:xfrm>
        </p:grpSpPr>
        <p:sp>
          <p:nvSpPr>
            <p:cNvPr id="261" name="Google Shape;261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571500">
              <a:solidFill>
                <a:srgbClr val="0345E4">
                  <a:alpha val="19607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"/>
          <p:cNvSpPr/>
          <p:nvPr/>
        </p:nvSpPr>
        <p:spPr>
          <a:xfrm>
            <a:off x="12356819" y="0"/>
            <a:ext cx="5416831" cy="12022429"/>
          </a:xfrm>
          <a:custGeom>
            <a:rect b="b" l="l" r="r" t="t"/>
            <a:pathLst>
              <a:path extrusionOk="0" h="6344920" w="2858770">
                <a:moveTo>
                  <a:pt x="1827530" y="6344920"/>
                </a:moveTo>
                <a:lnTo>
                  <a:pt x="25134" y="6344920"/>
                </a:lnTo>
                <a:cubicBezTo>
                  <a:pt x="11253" y="6344920"/>
                  <a:pt x="0" y="6333667"/>
                  <a:pt x="0" y="6319786"/>
                </a:cubicBezTo>
                <a:lnTo>
                  <a:pt x="0" y="1031240"/>
                </a:lnTo>
                <a:cubicBezTo>
                  <a:pt x="0" y="461010"/>
                  <a:pt x="461010" y="0"/>
                  <a:pt x="1031240" y="0"/>
                </a:cubicBezTo>
                <a:lnTo>
                  <a:pt x="2833635" y="0"/>
                </a:lnTo>
                <a:cubicBezTo>
                  <a:pt x="2847517" y="0"/>
                  <a:pt x="2858770" y="11253"/>
                  <a:pt x="2858770" y="25134"/>
                </a:cubicBezTo>
                <a:lnTo>
                  <a:pt x="2858770" y="5313680"/>
                </a:lnTo>
                <a:cubicBezTo>
                  <a:pt x="2858770" y="5883910"/>
                  <a:pt x="2397760" y="6344920"/>
                  <a:pt x="1827530" y="634492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03494" r="-129628" t="0"/>
            </a:stretch>
          </a:blipFill>
          <a:ln cap="sq" cmpd="sng" w="76200">
            <a:solidFill>
              <a:srgbClr val="1A48B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8" name="Google Shape;268;p9"/>
          <p:cNvGrpSpPr/>
          <p:nvPr/>
        </p:nvGrpSpPr>
        <p:grpSpPr>
          <a:xfrm>
            <a:off x="17773650" y="7060967"/>
            <a:ext cx="1028700" cy="3226033"/>
            <a:chOff x="0" y="-38100"/>
            <a:chExt cx="812800" cy="2548965"/>
          </a:xfrm>
        </p:grpSpPr>
        <p:sp>
          <p:nvSpPr>
            <p:cNvPr id="269" name="Google Shape;269;p9"/>
            <p:cNvSpPr/>
            <p:nvPr/>
          </p:nvSpPr>
          <p:spPr>
            <a:xfrm>
              <a:off x="0" y="0"/>
              <a:ext cx="812800" cy="2510865"/>
            </a:xfrm>
            <a:custGeom>
              <a:rect b="b" l="l" r="r" t="t"/>
              <a:pathLst>
                <a:path extrusionOk="0" h="251086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0345E4"/>
            </a:solidFill>
            <a:ln>
              <a:noFill/>
            </a:ln>
          </p:spPr>
        </p:sp>
        <p:sp>
          <p:nvSpPr>
            <p:cNvPr id="270" name="Google Shape;270;p9"/>
            <p:cNvSpPr txBox="1"/>
            <p:nvPr/>
          </p:nvSpPr>
          <p:spPr>
            <a:xfrm>
              <a:off x="0" y="-38100"/>
              <a:ext cx="812800" cy="25489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1" name="Google Shape;271;p9"/>
          <p:cNvGrpSpPr/>
          <p:nvPr/>
        </p:nvGrpSpPr>
        <p:grpSpPr>
          <a:xfrm>
            <a:off x="0" y="7060967"/>
            <a:ext cx="11842469" cy="3226033"/>
            <a:chOff x="0" y="-38100"/>
            <a:chExt cx="9357013" cy="2548965"/>
          </a:xfrm>
        </p:grpSpPr>
        <p:sp>
          <p:nvSpPr>
            <p:cNvPr id="272" name="Google Shape;272;p9"/>
            <p:cNvSpPr/>
            <p:nvPr/>
          </p:nvSpPr>
          <p:spPr>
            <a:xfrm>
              <a:off x="0" y="0"/>
              <a:ext cx="9357013" cy="2510865"/>
            </a:xfrm>
            <a:custGeom>
              <a:rect b="b" l="l" r="r" t="t"/>
              <a:pathLst>
                <a:path extrusionOk="0" h="2510865" w="9357013">
                  <a:moveTo>
                    <a:pt x="0" y="0"/>
                  </a:moveTo>
                  <a:lnTo>
                    <a:pt x="9357013" y="0"/>
                  </a:lnTo>
                  <a:lnTo>
                    <a:pt x="9357013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F6F6F6"/>
            </a:solidFill>
            <a:ln>
              <a:noFill/>
            </a:ln>
          </p:spPr>
        </p:sp>
        <p:sp>
          <p:nvSpPr>
            <p:cNvPr id="273" name="Google Shape;273;p9"/>
            <p:cNvSpPr txBox="1"/>
            <p:nvPr/>
          </p:nvSpPr>
          <p:spPr>
            <a:xfrm>
              <a:off x="0" y="-38100"/>
              <a:ext cx="9357013" cy="25489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4" name="Google Shape;274;p9"/>
          <p:cNvGrpSpPr/>
          <p:nvPr/>
        </p:nvGrpSpPr>
        <p:grpSpPr>
          <a:xfrm>
            <a:off x="181304" y="4811641"/>
            <a:ext cx="1694792" cy="10431661"/>
            <a:chOff x="0" y="-38100"/>
            <a:chExt cx="446365" cy="2747433"/>
          </a:xfrm>
        </p:grpSpPr>
        <p:sp>
          <p:nvSpPr>
            <p:cNvPr id="275" name="Google Shape;275;p9"/>
            <p:cNvSpPr/>
            <p:nvPr/>
          </p:nvSpPr>
          <p:spPr>
            <a:xfrm>
              <a:off x="0" y="0"/>
              <a:ext cx="446365" cy="2709333"/>
            </a:xfrm>
            <a:custGeom>
              <a:rect b="b" l="l" r="r" t="t"/>
              <a:pathLst>
                <a:path extrusionOk="0" h="2709333" w="446365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0345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9"/>
            <p:cNvSpPr txBox="1"/>
            <p:nvPr/>
          </p:nvSpPr>
          <p:spPr>
            <a:xfrm>
              <a:off x="0" y="-38100"/>
              <a:ext cx="446365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7" name="Google Shape;277;p9"/>
          <p:cNvGrpSpPr/>
          <p:nvPr/>
        </p:nvGrpSpPr>
        <p:grpSpPr>
          <a:xfrm>
            <a:off x="1624423" y="-566912"/>
            <a:ext cx="1977164" cy="2069844"/>
            <a:chOff x="0" y="-38100"/>
            <a:chExt cx="812800" cy="850900"/>
          </a:xfrm>
        </p:grpSpPr>
        <p:sp>
          <p:nvSpPr>
            <p:cNvPr id="278" name="Google Shape;278;p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199699" y="0"/>
                  </a:moveTo>
                  <a:lnTo>
                    <a:pt x="613101" y="0"/>
                  </a:lnTo>
                  <a:cubicBezTo>
                    <a:pt x="666064" y="0"/>
                    <a:pt x="716859" y="21040"/>
                    <a:pt x="754309" y="58491"/>
                  </a:cubicBezTo>
                  <a:cubicBezTo>
                    <a:pt x="791760" y="95941"/>
                    <a:pt x="812800" y="146736"/>
                    <a:pt x="812800" y="199699"/>
                  </a:cubicBezTo>
                  <a:lnTo>
                    <a:pt x="812800" y="613101"/>
                  </a:lnTo>
                  <a:cubicBezTo>
                    <a:pt x="812800" y="666064"/>
                    <a:pt x="791760" y="716859"/>
                    <a:pt x="754309" y="754309"/>
                  </a:cubicBezTo>
                  <a:cubicBezTo>
                    <a:pt x="716859" y="791760"/>
                    <a:pt x="666064" y="812800"/>
                    <a:pt x="613101" y="812800"/>
                  </a:cubicBezTo>
                  <a:lnTo>
                    <a:pt x="199699" y="812800"/>
                  </a:lnTo>
                  <a:cubicBezTo>
                    <a:pt x="146736" y="812800"/>
                    <a:pt x="95941" y="791760"/>
                    <a:pt x="58491" y="754309"/>
                  </a:cubicBezTo>
                  <a:cubicBezTo>
                    <a:pt x="21040" y="716859"/>
                    <a:pt x="0" y="666064"/>
                    <a:pt x="0" y="613101"/>
                  </a:cubicBezTo>
                  <a:lnTo>
                    <a:pt x="0" y="199699"/>
                  </a:lnTo>
                  <a:cubicBezTo>
                    <a:pt x="0" y="146736"/>
                    <a:pt x="21040" y="95941"/>
                    <a:pt x="58491" y="58491"/>
                  </a:cubicBezTo>
                  <a:cubicBezTo>
                    <a:pt x="95941" y="21040"/>
                    <a:pt x="146736" y="0"/>
                    <a:pt x="199699" y="0"/>
                  </a:cubicBezTo>
                  <a:close/>
                </a:path>
              </a:pathLst>
            </a:custGeom>
            <a:solidFill>
              <a:srgbClr val="0345E4">
                <a:alpha val="5176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0" name="Google Shape;280;p9"/>
          <p:cNvSpPr txBox="1"/>
          <p:nvPr/>
        </p:nvSpPr>
        <p:spPr>
          <a:xfrm>
            <a:off x="1624423" y="3432937"/>
            <a:ext cx="8795646" cy="1523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grpSp>
        <p:nvGrpSpPr>
          <p:cNvPr id="281" name="Google Shape;281;p9"/>
          <p:cNvGrpSpPr/>
          <p:nvPr/>
        </p:nvGrpSpPr>
        <p:grpSpPr>
          <a:xfrm>
            <a:off x="8484493" y="9014056"/>
            <a:ext cx="2545888" cy="2545888"/>
            <a:chOff x="0" y="0"/>
            <a:chExt cx="812800" cy="812800"/>
          </a:xfrm>
        </p:grpSpPr>
        <p:sp>
          <p:nvSpPr>
            <p:cNvPr id="282" name="Google Shape;282;p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571500">
              <a:solidFill>
                <a:srgbClr val="0345E4">
                  <a:alpha val="9803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4" name="Google Shape;284;p9"/>
          <p:cNvGrpSpPr/>
          <p:nvPr/>
        </p:nvGrpSpPr>
        <p:grpSpPr>
          <a:xfrm>
            <a:off x="8863323" y="1028700"/>
            <a:ext cx="2545888" cy="2545888"/>
            <a:chOff x="0" y="0"/>
            <a:chExt cx="812800" cy="812800"/>
          </a:xfrm>
        </p:grpSpPr>
        <p:sp>
          <p:nvSpPr>
            <p:cNvPr id="285" name="Google Shape;285;p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571500">
              <a:solidFill>
                <a:srgbClr val="0345E4">
                  <a:alpha val="14901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